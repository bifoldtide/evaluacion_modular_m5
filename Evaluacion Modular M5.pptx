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68ACCD-7BB7-ACAC-0810-93A6F7F7F435}" v="2996" dt="2026-03-30T08:45:32.0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32350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9834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3/30/2026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44694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600026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3/30/2026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48742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3/30/2026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42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3/30/2026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58938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3/30/2026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42604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3/30/2026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790498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3/30/2026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42182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3/30/2026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993202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3/30/2026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752703407"/>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05" r:id="rId6"/>
    <p:sldLayoutId id="2147483801" r:id="rId7"/>
    <p:sldLayoutId id="2147483802" r:id="rId8"/>
    <p:sldLayoutId id="2147483803" r:id="rId9"/>
    <p:sldLayoutId id="2147483804" r:id="rId10"/>
    <p:sldLayoutId id="2147483806"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descr="Patrón de fondo">
            <a:extLst>
              <a:ext uri="{FF2B5EF4-FFF2-40B4-BE49-F238E27FC236}">
                <a16:creationId xmlns:a16="http://schemas.microsoft.com/office/drawing/2014/main" id="{4F9B6AAD-4F99-18E0-E3F6-F5FDD1FBDF30}"/>
              </a:ext>
            </a:extLst>
          </p:cNvPr>
          <p:cNvPicPr>
            <a:picLocks noChangeAspect="1"/>
          </p:cNvPicPr>
          <p:nvPr/>
        </p:nvPicPr>
        <p:blipFill>
          <a:blip r:embed="rId2"/>
          <a:stretch>
            <a:fillRect/>
          </a:stretch>
        </p:blipFill>
        <p:spPr>
          <a:xfrm>
            <a:off x="-2874" y="4764"/>
            <a:ext cx="12197750" cy="6848474"/>
          </a:xfrm>
          <a:prstGeom prst="rect">
            <a:avLst/>
          </a:prstGeom>
        </p:spPr>
      </p:pic>
      <p:sp>
        <p:nvSpPr>
          <p:cNvPr id="7"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p:cNvSpPr>
            <a:spLocks noGrp="1"/>
          </p:cNvSpPr>
          <p:nvPr>
            <p:ph type="ctrTitle"/>
          </p:nvPr>
        </p:nvSpPr>
        <p:spPr>
          <a:xfrm>
            <a:off x="7473219" y="898373"/>
            <a:ext cx="4470544" cy="3474720"/>
          </a:xfrm>
        </p:spPr>
        <p:txBody>
          <a:bodyPr anchor="b">
            <a:normAutofit/>
          </a:bodyPr>
          <a:lstStyle/>
          <a:p>
            <a:pPr algn="l"/>
            <a:r>
              <a:rPr lang="es-ES" sz="5800" dirty="0"/>
              <a:t>Evaluación Modular </a:t>
            </a:r>
            <a:r>
              <a:rPr lang="es-ES" sz="5800"/>
              <a:t>M5</a:t>
            </a:r>
            <a:br>
              <a:rPr lang="es-ES" sz="5800" dirty="0"/>
            </a:br>
            <a:endParaRPr lang="es-ES" sz="5800" dirty="0"/>
          </a:p>
        </p:txBody>
      </p:sp>
      <p:sp>
        <p:nvSpPr>
          <p:cNvPr id="3" name="Subtítulo 2"/>
          <p:cNvSpPr>
            <a:spLocks noGrp="1"/>
          </p:cNvSpPr>
          <p:nvPr>
            <p:ph type="subTitle" idx="1"/>
          </p:nvPr>
        </p:nvSpPr>
        <p:spPr>
          <a:xfrm>
            <a:off x="337099" y="5400787"/>
            <a:ext cx="4130787" cy="1458727"/>
          </a:xfrm>
        </p:spPr>
        <p:txBody>
          <a:bodyPr anchor="t">
            <a:normAutofit/>
          </a:bodyPr>
          <a:lstStyle/>
          <a:p>
            <a:pPr algn="l"/>
            <a:r>
              <a:rPr lang="es-ES" sz="2400" dirty="0"/>
              <a:t>Creado por: </a:t>
            </a:r>
            <a:r>
              <a:rPr lang="es-ES" sz="2400" dirty="0" err="1"/>
              <a:t>BifoldTide</a:t>
            </a:r>
            <a:endParaRPr lang="es-ES" sz="2400" dirty="0"/>
          </a:p>
        </p:txBody>
      </p:sp>
      <p:sp>
        <p:nvSpPr>
          <p:cNvPr id="5" name="CuadroTexto 4">
            <a:extLst>
              <a:ext uri="{FF2B5EF4-FFF2-40B4-BE49-F238E27FC236}">
                <a16:creationId xmlns:a16="http://schemas.microsoft.com/office/drawing/2014/main" id="{7377D839-7CDB-0282-7F8D-A29A78568F38}"/>
              </a:ext>
            </a:extLst>
          </p:cNvPr>
          <p:cNvSpPr txBox="1"/>
          <p:nvPr/>
        </p:nvSpPr>
        <p:spPr>
          <a:xfrm>
            <a:off x="7471114" y="3606799"/>
            <a:ext cx="430106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a:t>Caso: Clínica veterinaria</a:t>
            </a:r>
          </a:p>
        </p:txBody>
      </p:sp>
      <p:pic>
        <p:nvPicPr>
          <p:cNvPr id="9" name="Imagen 8" descr="Diagrama&#10;&#10;El contenido generado por IA puede ser incorrecto.">
            <a:extLst>
              <a:ext uri="{FF2B5EF4-FFF2-40B4-BE49-F238E27FC236}">
                <a16:creationId xmlns:a16="http://schemas.microsoft.com/office/drawing/2014/main" id="{C5330451-382A-5BFB-4BA9-9BA69CDBD844}"/>
              </a:ext>
            </a:extLst>
          </p:cNvPr>
          <p:cNvPicPr>
            <a:picLocks noChangeAspect="1"/>
          </p:cNvPicPr>
          <p:nvPr/>
        </p:nvPicPr>
        <p:blipFill>
          <a:blip r:embed="rId3"/>
          <a:stretch>
            <a:fillRect/>
          </a:stretch>
        </p:blipFill>
        <p:spPr>
          <a:xfrm>
            <a:off x="2037272" y="918264"/>
            <a:ext cx="3257909" cy="3468717"/>
          </a:xfrm>
          <a:prstGeom prst="rect">
            <a:avLst/>
          </a:prstGeom>
        </p:spPr>
      </p:pic>
    </p:spTree>
    <p:extLst>
      <p:ext uri="{BB962C8B-B14F-4D97-AF65-F5344CB8AC3E}">
        <p14:creationId xmlns:p14="http://schemas.microsoft.com/office/powerpoint/2010/main" val="24062731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E6C98A72-4A21-2EB5-A2E4-CAD11EC9ADF2}"/>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2" name="Título 1">
            <a:extLst>
              <a:ext uri="{FF2B5EF4-FFF2-40B4-BE49-F238E27FC236}">
                <a16:creationId xmlns:a16="http://schemas.microsoft.com/office/drawing/2014/main" id="{45F9AB10-1A08-72CF-7B8E-F59F45A118AF}"/>
              </a:ext>
            </a:extLst>
          </p:cNvPr>
          <p:cNvSpPr>
            <a:spLocks noGrp="1"/>
          </p:cNvSpPr>
          <p:nvPr>
            <p:ph type="title"/>
          </p:nvPr>
        </p:nvSpPr>
        <p:spPr/>
        <p:txBody>
          <a:bodyPr/>
          <a:lstStyle/>
          <a:p>
            <a:r>
              <a:rPr lang="es-ES">
                <a:solidFill>
                  <a:schemeClr val="bg2"/>
                </a:solidFill>
              </a:rPr>
              <a:t>Introducción</a:t>
            </a:r>
            <a:endParaRPr lang="es-ES" dirty="0">
              <a:solidFill>
                <a:schemeClr val="bg2"/>
              </a:solidFill>
            </a:endParaRPr>
          </a:p>
        </p:txBody>
      </p:sp>
      <p:sp>
        <p:nvSpPr>
          <p:cNvPr id="7" name="Título 1">
            <a:extLst>
              <a:ext uri="{FF2B5EF4-FFF2-40B4-BE49-F238E27FC236}">
                <a16:creationId xmlns:a16="http://schemas.microsoft.com/office/drawing/2014/main" id="{7EB6F595-F0A7-227A-5545-6E84CCAACCEB}"/>
              </a:ext>
            </a:extLst>
          </p:cNvPr>
          <p:cNvSpPr txBox="1">
            <a:spLocks/>
          </p:cNvSpPr>
          <p:nvPr/>
        </p:nvSpPr>
        <p:spPr>
          <a:xfrm>
            <a:off x="765048" y="2181907"/>
            <a:ext cx="10653578" cy="410837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b="0" dirty="0">
                <a:solidFill>
                  <a:schemeClr val="bg2"/>
                </a:solidFill>
              </a:rPr>
              <a:t>En esta presentación, se mostrará la estructura de la base de datos, sus datos y el despliegue de la solución a las consultas impuestas en el </a:t>
            </a:r>
            <a:r>
              <a:rPr lang="es-ES" sz="2800" b="0">
                <a:solidFill>
                  <a:schemeClr val="bg2"/>
                </a:solidFill>
              </a:rPr>
              <a:t>ejercicio. </a:t>
            </a:r>
          </a:p>
          <a:p>
            <a:endParaRPr lang="es-ES" sz="2800" b="0" dirty="0">
              <a:solidFill>
                <a:schemeClr val="bg2"/>
              </a:solidFill>
            </a:endParaRPr>
          </a:p>
          <a:p>
            <a:r>
              <a:rPr lang="es-ES" sz="2800" b="0" dirty="0">
                <a:solidFill>
                  <a:schemeClr val="bg2"/>
                </a:solidFill>
              </a:rPr>
              <a:t>Para efectos de despliegue y desarrollo, se usó PostgreSQL como lenguaje y </a:t>
            </a:r>
            <a:r>
              <a:rPr lang="es-ES" sz="2800" b="0" dirty="0" err="1">
                <a:solidFill>
                  <a:schemeClr val="bg2"/>
                </a:solidFill>
              </a:rPr>
              <a:t>PgAdmin</a:t>
            </a:r>
            <a:r>
              <a:rPr lang="es-ES" sz="2800" b="0" dirty="0">
                <a:solidFill>
                  <a:schemeClr val="bg2"/>
                </a:solidFill>
              </a:rPr>
              <a:t> como interfaz.</a:t>
            </a:r>
          </a:p>
        </p:txBody>
      </p:sp>
    </p:spTree>
    <p:extLst>
      <p:ext uri="{BB962C8B-B14F-4D97-AF65-F5344CB8AC3E}">
        <p14:creationId xmlns:p14="http://schemas.microsoft.com/office/powerpoint/2010/main" val="3493092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4" descr="Patrón de fondo&#10;&#10;El contenido generado por IA puede ser incorrecto.">
            <a:extLst>
              <a:ext uri="{FF2B5EF4-FFF2-40B4-BE49-F238E27FC236}">
                <a16:creationId xmlns:a16="http://schemas.microsoft.com/office/drawing/2014/main" id="{BA7F880C-1A44-F741-0F53-22ED28AD39D1}"/>
              </a:ext>
            </a:extLst>
          </p:cNvPr>
          <p:cNvPicPr>
            <a:picLocks noChangeAspect="1"/>
          </p:cNvPicPr>
          <p:nvPr/>
        </p:nvPicPr>
        <p:blipFill>
          <a:blip r:embed="rId2"/>
          <a:stretch>
            <a:fillRect/>
          </a:stretch>
        </p:blipFill>
        <p:spPr>
          <a:xfrm>
            <a:off x="-194714" y="4627"/>
            <a:ext cx="12383320" cy="6836695"/>
          </a:xfrm>
          <a:prstGeom prst="rect">
            <a:avLst/>
          </a:prstGeom>
        </p:spPr>
      </p:pic>
      <p:sp>
        <p:nvSpPr>
          <p:cNvPr id="2" name="Título 1">
            <a:extLst>
              <a:ext uri="{FF2B5EF4-FFF2-40B4-BE49-F238E27FC236}">
                <a16:creationId xmlns:a16="http://schemas.microsoft.com/office/drawing/2014/main" id="{B6D56E16-EE63-BDAA-D15B-87C664C1B14F}"/>
              </a:ext>
            </a:extLst>
          </p:cNvPr>
          <p:cNvSpPr>
            <a:spLocks noGrp="1"/>
          </p:cNvSpPr>
          <p:nvPr>
            <p:ph type="title"/>
          </p:nvPr>
        </p:nvSpPr>
        <p:spPr/>
        <p:txBody>
          <a:bodyPr/>
          <a:lstStyle/>
          <a:p>
            <a:r>
              <a:rPr lang="es-ES">
                <a:solidFill>
                  <a:schemeClr val="bg2"/>
                </a:solidFill>
              </a:rPr>
              <a:t>Modelo Entidad-Relación</a:t>
            </a:r>
            <a:endParaRPr lang="es-ES" dirty="0">
              <a:solidFill>
                <a:schemeClr val="bg2"/>
              </a:solidFill>
            </a:endParaRPr>
          </a:p>
        </p:txBody>
      </p:sp>
      <p:pic>
        <p:nvPicPr>
          <p:cNvPr id="4" name="Marcador de contenido 3" descr="Interfaz de usuario gráfica, Diagrama&#10;&#10;El contenido generado por IA puede ser incorrecto.">
            <a:extLst>
              <a:ext uri="{FF2B5EF4-FFF2-40B4-BE49-F238E27FC236}">
                <a16:creationId xmlns:a16="http://schemas.microsoft.com/office/drawing/2014/main" id="{FAEAE0DA-27F1-3CC8-5D1D-74CA80C58558}"/>
              </a:ext>
            </a:extLst>
          </p:cNvPr>
          <p:cNvPicPr>
            <a:picLocks noGrp="1" noChangeAspect="1"/>
          </p:cNvPicPr>
          <p:nvPr>
            <p:ph idx="1"/>
          </p:nvPr>
        </p:nvPicPr>
        <p:blipFill>
          <a:blip r:embed="rId3"/>
          <a:stretch>
            <a:fillRect/>
          </a:stretch>
        </p:blipFill>
        <p:spPr>
          <a:xfrm>
            <a:off x="4544833" y="1117415"/>
            <a:ext cx="7778150" cy="5143081"/>
          </a:xfrm>
          <a:prstGeom prst="rect">
            <a:avLst/>
          </a:prstGeom>
        </p:spPr>
      </p:pic>
      <p:sp>
        <p:nvSpPr>
          <p:cNvPr id="6" name="Título 1">
            <a:extLst>
              <a:ext uri="{FF2B5EF4-FFF2-40B4-BE49-F238E27FC236}">
                <a16:creationId xmlns:a16="http://schemas.microsoft.com/office/drawing/2014/main" id="{7AE86DE3-48B6-C39B-CE07-CA3C74720A2D}"/>
              </a:ext>
            </a:extLst>
          </p:cNvPr>
          <p:cNvSpPr txBox="1">
            <a:spLocks/>
          </p:cNvSpPr>
          <p:nvPr/>
        </p:nvSpPr>
        <p:spPr>
          <a:xfrm>
            <a:off x="261841" y="1376775"/>
            <a:ext cx="6886711" cy="527293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b="0">
                <a:solidFill>
                  <a:schemeClr val="bg2"/>
                </a:solidFill>
              </a:rPr>
              <a:t>La estructura de la </a:t>
            </a:r>
            <a:endParaRPr lang="es-ES">
              <a:solidFill>
                <a:schemeClr val="bg2"/>
              </a:solidFill>
            </a:endParaRPr>
          </a:p>
          <a:p>
            <a:r>
              <a:rPr lang="es-ES" sz="2800" b="0">
                <a:solidFill>
                  <a:schemeClr val="bg2"/>
                </a:solidFill>
              </a:rPr>
              <a:t>base de datos es la </a:t>
            </a:r>
            <a:endParaRPr lang="es-ES">
              <a:solidFill>
                <a:schemeClr val="bg2"/>
              </a:solidFill>
            </a:endParaRPr>
          </a:p>
          <a:p>
            <a:r>
              <a:rPr lang="es-ES" sz="2800" b="0">
                <a:solidFill>
                  <a:schemeClr val="bg2"/>
                </a:solidFill>
              </a:rPr>
              <a:t>siguiente:</a:t>
            </a:r>
            <a:endParaRPr lang="es-ES">
              <a:solidFill>
                <a:schemeClr val="bg2"/>
              </a:solidFill>
            </a:endParaRPr>
          </a:p>
          <a:p>
            <a:endParaRPr lang="es-ES" sz="2800" b="0" dirty="0">
              <a:solidFill>
                <a:schemeClr val="bg2"/>
              </a:solidFill>
            </a:endParaRPr>
          </a:p>
          <a:p>
            <a:pPr marL="457200" indent="-457200">
              <a:buFont typeface="Wingdings"/>
              <a:buChar char="v"/>
            </a:pPr>
            <a:r>
              <a:rPr lang="es-ES" sz="2800" b="0">
                <a:solidFill>
                  <a:schemeClr val="bg2"/>
                </a:solidFill>
              </a:rPr>
              <a:t>Dueños</a:t>
            </a:r>
          </a:p>
          <a:p>
            <a:pPr marL="457200" indent="-457200">
              <a:buFont typeface="Wingdings"/>
              <a:buChar char="v"/>
            </a:pPr>
            <a:r>
              <a:rPr lang="es-ES" sz="2800" b="0">
                <a:solidFill>
                  <a:schemeClr val="bg2"/>
                </a:solidFill>
              </a:rPr>
              <a:t>Mascotas</a:t>
            </a:r>
          </a:p>
          <a:p>
            <a:pPr marL="457200" indent="-457200">
              <a:buFont typeface="Wingdings"/>
              <a:buChar char="v"/>
            </a:pPr>
            <a:r>
              <a:rPr lang="es-ES" sz="2800" b="0">
                <a:solidFill>
                  <a:schemeClr val="bg2"/>
                </a:solidFill>
              </a:rPr>
              <a:t>Profesionales</a:t>
            </a:r>
          </a:p>
          <a:p>
            <a:pPr marL="457200" indent="-457200">
              <a:buFont typeface="Wingdings"/>
              <a:buChar char="v"/>
            </a:pPr>
            <a:r>
              <a:rPr lang="es-ES" sz="2800" b="0">
                <a:solidFill>
                  <a:schemeClr val="bg2"/>
                </a:solidFill>
              </a:rPr>
              <a:t>Atenciones</a:t>
            </a:r>
            <a:endParaRPr lang="es-ES" sz="2800" b="0" dirty="0">
              <a:solidFill>
                <a:schemeClr val="bg2"/>
              </a:solidFill>
            </a:endParaRPr>
          </a:p>
          <a:p>
            <a:pPr marL="457200" indent="-457200">
              <a:buFont typeface="Wingdings"/>
              <a:buChar char="v"/>
            </a:pPr>
            <a:endParaRPr lang="es-ES" sz="2800" b="0" dirty="0">
              <a:solidFill>
                <a:schemeClr val="bg2"/>
              </a:solidFill>
            </a:endParaRPr>
          </a:p>
          <a:p>
            <a:r>
              <a:rPr lang="es-ES" sz="2800" b="0" dirty="0">
                <a:solidFill>
                  <a:schemeClr val="bg2"/>
                </a:solidFill>
              </a:rPr>
              <a:t>Mascotas depende de Dueños, y Atenciones depende tanto de Mascotas </a:t>
            </a:r>
            <a:r>
              <a:rPr lang="es-ES" sz="2800" b="0">
                <a:solidFill>
                  <a:schemeClr val="bg2"/>
                </a:solidFill>
              </a:rPr>
              <a:t>como de Profesionales para poder mantener las referencias.</a:t>
            </a:r>
            <a:endParaRPr lang="es-ES" sz="2800" b="0" dirty="0">
              <a:solidFill>
                <a:schemeClr val="bg2"/>
              </a:solidFill>
            </a:endParaRPr>
          </a:p>
        </p:txBody>
      </p:sp>
    </p:spTree>
    <p:extLst>
      <p:ext uri="{BB962C8B-B14F-4D97-AF65-F5344CB8AC3E}">
        <p14:creationId xmlns:p14="http://schemas.microsoft.com/office/powerpoint/2010/main" val="177509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0B148-A559-837F-4E23-AC10084771E2}"/>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9AE03EEF-E3A1-E6A9-C5FA-EB5303235A85}"/>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2" name="Título 1">
            <a:extLst>
              <a:ext uri="{FF2B5EF4-FFF2-40B4-BE49-F238E27FC236}">
                <a16:creationId xmlns:a16="http://schemas.microsoft.com/office/drawing/2014/main" id="{C20F8183-A7D4-651E-D27A-CF29D6C3896A}"/>
              </a:ext>
            </a:extLst>
          </p:cNvPr>
          <p:cNvSpPr>
            <a:spLocks noGrp="1"/>
          </p:cNvSpPr>
          <p:nvPr>
            <p:ph type="title"/>
          </p:nvPr>
        </p:nvSpPr>
        <p:spPr/>
        <p:txBody>
          <a:bodyPr/>
          <a:lstStyle/>
          <a:p>
            <a:r>
              <a:rPr lang="es-ES">
                <a:solidFill>
                  <a:schemeClr val="bg2"/>
                </a:solidFill>
              </a:rPr>
              <a:t>Datos:</a:t>
            </a:r>
            <a:endParaRPr lang="es-ES" dirty="0">
              <a:solidFill>
                <a:schemeClr val="bg2"/>
              </a:solidFill>
            </a:endParaRPr>
          </a:p>
        </p:txBody>
      </p:sp>
      <p:pic>
        <p:nvPicPr>
          <p:cNvPr id="3" name="Imagen 2" descr="Tabla&#10;&#10;El contenido generado por IA puede ser incorrecto.">
            <a:extLst>
              <a:ext uri="{FF2B5EF4-FFF2-40B4-BE49-F238E27FC236}">
                <a16:creationId xmlns:a16="http://schemas.microsoft.com/office/drawing/2014/main" id="{A79E4FF0-0C6F-5DA6-101B-1DA57B63DDE2}"/>
              </a:ext>
            </a:extLst>
          </p:cNvPr>
          <p:cNvPicPr>
            <a:picLocks noChangeAspect="1"/>
          </p:cNvPicPr>
          <p:nvPr/>
        </p:nvPicPr>
        <p:blipFill>
          <a:blip r:embed="rId3"/>
          <a:stretch>
            <a:fillRect/>
          </a:stretch>
        </p:blipFill>
        <p:spPr>
          <a:xfrm>
            <a:off x="2912404" y="1668852"/>
            <a:ext cx="8926362" cy="1751881"/>
          </a:xfrm>
          <a:prstGeom prst="rect">
            <a:avLst/>
          </a:prstGeom>
        </p:spPr>
      </p:pic>
      <p:sp>
        <p:nvSpPr>
          <p:cNvPr id="6" name="Título 1">
            <a:extLst>
              <a:ext uri="{FF2B5EF4-FFF2-40B4-BE49-F238E27FC236}">
                <a16:creationId xmlns:a16="http://schemas.microsoft.com/office/drawing/2014/main" id="{CEC36354-D4C3-EB87-9F4E-111387652908}"/>
              </a:ext>
            </a:extLst>
          </p:cNvPr>
          <p:cNvSpPr txBox="1">
            <a:spLocks/>
          </p:cNvSpPr>
          <p:nvPr/>
        </p:nvSpPr>
        <p:spPr>
          <a:xfrm>
            <a:off x="391237" y="2282549"/>
            <a:ext cx="10653578" cy="11322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Dueños:</a:t>
            </a:r>
            <a:endParaRPr lang="es-ES" sz="3200" dirty="0">
              <a:solidFill>
                <a:schemeClr val="bg2"/>
              </a:solidFill>
            </a:endParaRPr>
          </a:p>
        </p:txBody>
      </p:sp>
      <p:pic>
        <p:nvPicPr>
          <p:cNvPr id="8" name="Imagen 7" descr="Tabla&#10;&#10;El contenido generado por IA puede ser incorrecto.">
            <a:extLst>
              <a:ext uri="{FF2B5EF4-FFF2-40B4-BE49-F238E27FC236}">
                <a16:creationId xmlns:a16="http://schemas.microsoft.com/office/drawing/2014/main" id="{8F18F7D6-486F-CE9A-B0F9-E13B9C8CAABA}"/>
              </a:ext>
            </a:extLst>
          </p:cNvPr>
          <p:cNvPicPr>
            <a:picLocks noChangeAspect="1"/>
          </p:cNvPicPr>
          <p:nvPr/>
        </p:nvPicPr>
        <p:blipFill>
          <a:blip r:embed="rId4"/>
          <a:stretch>
            <a:fillRect/>
          </a:stretch>
        </p:blipFill>
        <p:spPr>
          <a:xfrm>
            <a:off x="2779773" y="4136906"/>
            <a:ext cx="9162870" cy="1675321"/>
          </a:xfrm>
          <a:prstGeom prst="rect">
            <a:avLst/>
          </a:prstGeom>
        </p:spPr>
      </p:pic>
      <p:sp>
        <p:nvSpPr>
          <p:cNvPr id="9" name="Título 1">
            <a:extLst>
              <a:ext uri="{FF2B5EF4-FFF2-40B4-BE49-F238E27FC236}">
                <a16:creationId xmlns:a16="http://schemas.microsoft.com/office/drawing/2014/main" id="{A1DC4ECC-181E-28C6-5868-5C8E78B01894}"/>
              </a:ext>
            </a:extLst>
          </p:cNvPr>
          <p:cNvSpPr txBox="1">
            <a:spLocks/>
          </p:cNvSpPr>
          <p:nvPr/>
        </p:nvSpPr>
        <p:spPr>
          <a:xfrm>
            <a:off x="391236" y="4539794"/>
            <a:ext cx="10653578" cy="11322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Mascotas</a:t>
            </a:r>
            <a:r>
              <a:rPr lang="es-ES" sz="2800" dirty="0">
                <a:solidFill>
                  <a:schemeClr val="bg2"/>
                </a:solidFill>
              </a:rPr>
              <a:t>:</a:t>
            </a:r>
            <a:endParaRPr lang="es-ES" sz="3200" dirty="0">
              <a:solidFill>
                <a:schemeClr val="bg2"/>
              </a:solidFill>
            </a:endParaRPr>
          </a:p>
        </p:txBody>
      </p:sp>
    </p:spTree>
    <p:extLst>
      <p:ext uri="{BB962C8B-B14F-4D97-AF65-F5344CB8AC3E}">
        <p14:creationId xmlns:p14="http://schemas.microsoft.com/office/powerpoint/2010/main" val="49620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DC20D-742C-4B13-A420-855935C0B69C}"/>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A333025E-683D-9085-AF10-B5B60127DE85}"/>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2" name="Título 1">
            <a:extLst>
              <a:ext uri="{FF2B5EF4-FFF2-40B4-BE49-F238E27FC236}">
                <a16:creationId xmlns:a16="http://schemas.microsoft.com/office/drawing/2014/main" id="{AB3EF761-885C-0418-80A5-E0EC294A53CA}"/>
              </a:ext>
            </a:extLst>
          </p:cNvPr>
          <p:cNvSpPr>
            <a:spLocks noGrp="1"/>
          </p:cNvSpPr>
          <p:nvPr>
            <p:ph type="title"/>
          </p:nvPr>
        </p:nvSpPr>
        <p:spPr/>
        <p:txBody>
          <a:bodyPr/>
          <a:lstStyle/>
          <a:p>
            <a:r>
              <a:rPr lang="es-ES">
                <a:solidFill>
                  <a:schemeClr val="bg2"/>
                </a:solidFill>
              </a:rPr>
              <a:t>Datos:</a:t>
            </a:r>
            <a:endParaRPr lang="es-ES" dirty="0">
              <a:solidFill>
                <a:schemeClr val="bg2"/>
              </a:solidFill>
            </a:endParaRPr>
          </a:p>
        </p:txBody>
      </p:sp>
      <p:sp>
        <p:nvSpPr>
          <p:cNvPr id="6" name="Título 1">
            <a:extLst>
              <a:ext uri="{FF2B5EF4-FFF2-40B4-BE49-F238E27FC236}">
                <a16:creationId xmlns:a16="http://schemas.microsoft.com/office/drawing/2014/main" id="{E449BC88-7F24-577C-4FBD-C79ECF5CCC0C}"/>
              </a:ext>
            </a:extLst>
          </p:cNvPr>
          <p:cNvSpPr txBox="1">
            <a:spLocks/>
          </p:cNvSpPr>
          <p:nvPr/>
        </p:nvSpPr>
        <p:spPr>
          <a:xfrm>
            <a:off x="391237" y="2282549"/>
            <a:ext cx="2961692" cy="11322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Profesionales:</a:t>
            </a:r>
            <a:endParaRPr lang="es-ES" sz="3200" dirty="0">
              <a:solidFill>
                <a:schemeClr val="bg2"/>
              </a:solidFill>
            </a:endParaRPr>
          </a:p>
        </p:txBody>
      </p:sp>
      <p:sp>
        <p:nvSpPr>
          <p:cNvPr id="9" name="Título 1">
            <a:extLst>
              <a:ext uri="{FF2B5EF4-FFF2-40B4-BE49-F238E27FC236}">
                <a16:creationId xmlns:a16="http://schemas.microsoft.com/office/drawing/2014/main" id="{F6FA64EC-F59C-60E2-C56E-47D01215B92B}"/>
              </a:ext>
            </a:extLst>
          </p:cNvPr>
          <p:cNvSpPr txBox="1">
            <a:spLocks/>
          </p:cNvSpPr>
          <p:nvPr/>
        </p:nvSpPr>
        <p:spPr>
          <a:xfrm>
            <a:off x="391236" y="4539794"/>
            <a:ext cx="2285956" cy="11322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Atenciones</a:t>
            </a:r>
            <a:r>
              <a:rPr lang="es-ES" sz="2800" dirty="0">
                <a:solidFill>
                  <a:schemeClr val="bg2"/>
                </a:solidFill>
              </a:rPr>
              <a:t>:</a:t>
            </a:r>
            <a:endParaRPr lang="es-ES" sz="3200" dirty="0">
              <a:solidFill>
                <a:schemeClr val="bg2"/>
              </a:solidFill>
            </a:endParaRPr>
          </a:p>
        </p:txBody>
      </p:sp>
      <p:pic>
        <p:nvPicPr>
          <p:cNvPr id="10" name="Imagen 9" descr="Interfaz de usuario gráfica, Texto, Aplicación&#10;&#10;El contenido generado por IA puede ser incorrecto.">
            <a:extLst>
              <a:ext uri="{FF2B5EF4-FFF2-40B4-BE49-F238E27FC236}">
                <a16:creationId xmlns:a16="http://schemas.microsoft.com/office/drawing/2014/main" id="{494B9C85-1EBC-6D53-3815-EECA3BBBCC4A}"/>
              </a:ext>
            </a:extLst>
          </p:cNvPr>
          <p:cNvPicPr>
            <a:picLocks noChangeAspect="1"/>
          </p:cNvPicPr>
          <p:nvPr/>
        </p:nvPicPr>
        <p:blipFill>
          <a:blip r:embed="rId3"/>
          <a:stretch>
            <a:fillRect/>
          </a:stretch>
        </p:blipFill>
        <p:spPr>
          <a:xfrm>
            <a:off x="3627138" y="1711895"/>
            <a:ext cx="7051195" cy="1708928"/>
          </a:xfrm>
          <a:prstGeom prst="rect">
            <a:avLst/>
          </a:prstGeom>
        </p:spPr>
      </p:pic>
      <p:pic>
        <p:nvPicPr>
          <p:cNvPr id="11" name="Imagen 10" descr="Interfaz de usuario gráfica, Texto, Aplicación, Chat o mensaje de texto&#10;&#10;El contenido generado por IA puede ser incorrecto.">
            <a:extLst>
              <a:ext uri="{FF2B5EF4-FFF2-40B4-BE49-F238E27FC236}">
                <a16:creationId xmlns:a16="http://schemas.microsoft.com/office/drawing/2014/main" id="{9CAAFC32-FAC1-3826-D90C-10230A18D3A8}"/>
              </a:ext>
            </a:extLst>
          </p:cNvPr>
          <p:cNvPicPr>
            <a:picLocks noChangeAspect="1"/>
          </p:cNvPicPr>
          <p:nvPr/>
        </p:nvPicPr>
        <p:blipFill>
          <a:blip r:embed="rId4"/>
          <a:stretch>
            <a:fillRect/>
          </a:stretch>
        </p:blipFill>
        <p:spPr>
          <a:xfrm>
            <a:off x="2812302" y="3969140"/>
            <a:ext cx="9083435" cy="1708928"/>
          </a:xfrm>
          <a:prstGeom prst="rect">
            <a:avLst/>
          </a:prstGeom>
        </p:spPr>
      </p:pic>
    </p:spTree>
    <p:extLst>
      <p:ext uri="{BB962C8B-B14F-4D97-AF65-F5344CB8AC3E}">
        <p14:creationId xmlns:p14="http://schemas.microsoft.com/office/powerpoint/2010/main" val="335097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230FD-2FE9-AE12-79A7-B8B320928FAC}"/>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75F9E06A-FF9C-E2E7-623A-E8FF1D05DBDC}"/>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2" name="Título 1">
            <a:extLst>
              <a:ext uri="{FF2B5EF4-FFF2-40B4-BE49-F238E27FC236}">
                <a16:creationId xmlns:a16="http://schemas.microsoft.com/office/drawing/2014/main" id="{9AD67287-6BF8-1049-F018-7AC015043D70}"/>
              </a:ext>
            </a:extLst>
          </p:cNvPr>
          <p:cNvSpPr>
            <a:spLocks noGrp="1"/>
          </p:cNvSpPr>
          <p:nvPr>
            <p:ph type="title"/>
          </p:nvPr>
        </p:nvSpPr>
        <p:spPr/>
        <p:txBody>
          <a:bodyPr/>
          <a:lstStyle/>
          <a:p>
            <a:r>
              <a:rPr lang="es-ES">
                <a:solidFill>
                  <a:schemeClr val="bg2"/>
                </a:solidFill>
              </a:rPr>
              <a:t>Consultas</a:t>
            </a:r>
            <a:endParaRPr lang="es-ES" dirty="0">
              <a:solidFill>
                <a:schemeClr val="bg2"/>
              </a:solidFill>
            </a:endParaRPr>
          </a:p>
        </p:txBody>
      </p:sp>
      <p:sp>
        <p:nvSpPr>
          <p:cNvPr id="6" name="Título 1">
            <a:extLst>
              <a:ext uri="{FF2B5EF4-FFF2-40B4-BE49-F238E27FC236}">
                <a16:creationId xmlns:a16="http://schemas.microsoft.com/office/drawing/2014/main" id="{5D24E305-5B74-FBDD-870F-8BDDAD117951}"/>
              </a:ext>
            </a:extLst>
          </p:cNvPr>
          <p:cNvSpPr txBox="1">
            <a:spLocks/>
          </p:cNvSpPr>
          <p:nvPr/>
        </p:nvSpPr>
        <p:spPr>
          <a:xfrm>
            <a:off x="146823" y="1319267"/>
            <a:ext cx="11113651" cy="504289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Obtener todos los dueños y sus mascotas</a:t>
            </a:r>
            <a:endParaRPr lang="es-ES">
              <a:solidFill>
                <a:schemeClr val="bg2"/>
              </a:solidFill>
            </a:endParaRPr>
          </a:p>
          <a:p>
            <a:endParaRPr lang="es-ES" sz="2800" dirty="0">
              <a:solidFill>
                <a:schemeClr val="bg2"/>
              </a:solidFill>
            </a:endParaRPr>
          </a:p>
          <a:p>
            <a:r>
              <a:rPr lang="es-ES" sz="2800" b="0">
                <a:solidFill>
                  <a:srgbClr val="569CD6"/>
                </a:solidFill>
                <a:highlight>
                  <a:srgbClr val="1F1F1F"/>
                </a:highlight>
                <a:latin typeface="Consolas"/>
              </a:rPr>
              <a:t>SELECT</a:t>
            </a:r>
            <a:r>
              <a:rPr lang="es-ES" sz="2800" b="0" dirty="0">
                <a:solidFill>
                  <a:srgbClr val="CCCCCC"/>
                </a:solidFill>
                <a:highlight>
                  <a:srgbClr val="1F1F1F"/>
                </a:highlight>
                <a:latin typeface="Consolas"/>
              </a:rPr>
              <a:t> </a:t>
            </a:r>
            <a:endParaRPr lang="es-ES" sz="2800"/>
          </a:p>
          <a:p>
            <a:r>
              <a:rPr lang="es-ES" sz="2800" b="0" dirty="0" err="1">
                <a:solidFill>
                  <a:srgbClr val="CCCCCC"/>
                </a:solidFill>
                <a:highlight>
                  <a:srgbClr val="1F1F1F"/>
                </a:highlight>
                <a:latin typeface="Consolas"/>
              </a:rPr>
              <a:t>duenios.nombre</a:t>
            </a:r>
            <a:r>
              <a:rPr lang="es-ES" sz="2800" b="0" dirty="0">
                <a:solidFill>
                  <a:srgbClr val="CCCCCC"/>
                </a:solidFill>
                <a:highlight>
                  <a:srgbClr val="1F1F1F"/>
                </a:highlight>
                <a:latin typeface="Consolas"/>
              </a:rPr>
              <a:t>,</a:t>
            </a:r>
            <a:endParaRPr lang="es-ES" sz="2800"/>
          </a:p>
          <a:p>
            <a:r>
              <a:rPr lang="es-ES" sz="2800" b="0" dirty="0" err="1">
                <a:solidFill>
                  <a:srgbClr val="CCCCCC"/>
                </a:solidFill>
                <a:highlight>
                  <a:srgbClr val="1F1F1F"/>
                </a:highlight>
                <a:latin typeface="Consolas"/>
              </a:rPr>
              <a:t>mascotas.nombre</a:t>
            </a:r>
            <a:r>
              <a:rPr lang="es-ES" sz="2800" b="0" dirty="0">
                <a:solidFill>
                  <a:srgbClr val="CCCCCC"/>
                </a:solidFill>
                <a:highlight>
                  <a:srgbClr val="1F1F1F"/>
                </a:highlight>
                <a:latin typeface="Consolas"/>
              </a:rPr>
              <a:t>,</a:t>
            </a:r>
            <a:endParaRPr lang="es-ES" sz="2800"/>
          </a:p>
          <a:p>
            <a:r>
              <a:rPr lang="es-ES" sz="2800" b="0" dirty="0" err="1">
                <a:solidFill>
                  <a:srgbClr val="CCCCCC"/>
                </a:solidFill>
                <a:highlight>
                  <a:srgbClr val="1F1F1F"/>
                </a:highlight>
                <a:latin typeface="Consolas"/>
              </a:rPr>
              <a:t>mascotas.tipo</a:t>
            </a:r>
            <a:endParaRPr lang="es-ES" sz="2800"/>
          </a:p>
          <a:p>
            <a:r>
              <a:rPr lang="es-ES" sz="2800" b="0" dirty="0">
                <a:solidFill>
                  <a:srgbClr val="569CD6"/>
                </a:solidFill>
                <a:highlight>
                  <a:srgbClr val="1F1F1F"/>
                </a:highlight>
                <a:latin typeface="Consolas"/>
              </a:rPr>
              <a:t>FROM</a:t>
            </a:r>
            <a:r>
              <a:rPr lang="es-ES" sz="2800" b="0" dirty="0">
                <a:solidFill>
                  <a:srgbClr val="CCCCCC"/>
                </a:solidFill>
                <a:highlight>
                  <a:srgbClr val="1F1F1F"/>
                </a:highlight>
                <a:latin typeface="Consolas"/>
              </a:rPr>
              <a:t> </a:t>
            </a:r>
            <a:r>
              <a:rPr lang="es-ES" sz="2800" b="0" dirty="0" err="1">
                <a:solidFill>
                  <a:srgbClr val="CCCCCC"/>
                </a:solidFill>
                <a:highlight>
                  <a:srgbClr val="1F1F1F"/>
                </a:highlight>
                <a:latin typeface="Consolas"/>
              </a:rPr>
              <a:t>duenios</a:t>
            </a:r>
            <a:endParaRPr lang="es-ES" sz="2800"/>
          </a:p>
          <a:p>
            <a:r>
              <a:rPr lang="es-ES" sz="2800" b="0" dirty="0">
                <a:solidFill>
                  <a:srgbClr val="569CD6"/>
                </a:solidFill>
                <a:highlight>
                  <a:srgbClr val="1F1F1F"/>
                </a:highlight>
                <a:latin typeface="Consolas"/>
              </a:rPr>
              <a:t>INNER JOIN</a:t>
            </a:r>
            <a:r>
              <a:rPr lang="es-ES" sz="2800" b="0" dirty="0">
                <a:solidFill>
                  <a:srgbClr val="CCCCCC"/>
                </a:solidFill>
                <a:highlight>
                  <a:srgbClr val="1F1F1F"/>
                </a:highlight>
                <a:latin typeface="Consolas"/>
              </a:rPr>
              <a:t> mascotas </a:t>
            </a:r>
            <a:endParaRPr lang="es-ES" sz="2800" dirty="0">
              <a:solidFill>
                <a:srgbClr val="000000"/>
              </a:solidFill>
              <a:latin typeface="Neue Haas Grotesk Text Pro"/>
            </a:endParaRPr>
          </a:p>
          <a:p>
            <a:r>
              <a:rPr lang="es-ES" sz="2800" b="0">
                <a:solidFill>
                  <a:srgbClr val="569CD6"/>
                </a:solidFill>
                <a:highlight>
                  <a:srgbClr val="1F1F1F"/>
                </a:highlight>
                <a:latin typeface="Consolas"/>
              </a:rPr>
              <a:t>ON</a:t>
            </a:r>
            <a:r>
              <a:rPr lang="es-ES" sz="2800" b="0" dirty="0">
                <a:solidFill>
                  <a:srgbClr val="CCCCCC"/>
                </a:solidFill>
                <a:highlight>
                  <a:srgbClr val="1F1F1F"/>
                </a:highlight>
                <a:latin typeface="Consolas"/>
              </a:rPr>
              <a:t> </a:t>
            </a:r>
            <a:endParaRPr lang="es-ES" sz="2800">
              <a:solidFill>
                <a:srgbClr val="000000"/>
              </a:solidFill>
              <a:latin typeface="Neue Haas Grotesk Text Pro"/>
            </a:endParaRPr>
          </a:p>
          <a:p>
            <a:r>
              <a:rPr lang="es-ES" sz="2800" b="0" dirty="0" err="1">
                <a:solidFill>
                  <a:srgbClr val="CCCCCC"/>
                </a:solidFill>
                <a:highlight>
                  <a:srgbClr val="1F1F1F"/>
                </a:highlight>
                <a:latin typeface="Consolas"/>
              </a:rPr>
              <a:t>duenios.id_duenio</a:t>
            </a:r>
            <a:r>
              <a:rPr lang="es-ES" sz="2800" b="0" dirty="0">
                <a:solidFill>
                  <a:srgbClr val="CCCCCC"/>
                </a:solidFill>
                <a:highlight>
                  <a:srgbClr val="1F1F1F"/>
                </a:highlight>
                <a:latin typeface="Consolas"/>
              </a:rPr>
              <a:t> </a:t>
            </a:r>
            <a:r>
              <a:rPr lang="es-ES" sz="2800" b="0" dirty="0">
                <a:solidFill>
                  <a:srgbClr val="D4D4D4"/>
                </a:solidFill>
                <a:highlight>
                  <a:srgbClr val="1F1F1F"/>
                </a:highlight>
                <a:latin typeface="Consolas"/>
              </a:rPr>
              <a:t>=</a:t>
            </a:r>
            <a:r>
              <a:rPr lang="es-ES" sz="2800" b="0" dirty="0">
                <a:solidFill>
                  <a:srgbClr val="CCCCCC"/>
                </a:solidFill>
                <a:highlight>
                  <a:srgbClr val="1F1F1F"/>
                </a:highlight>
                <a:latin typeface="Consolas"/>
              </a:rPr>
              <a:t> </a:t>
            </a:r>
            <a:endParaRPr lang="es-ES" sz="2800">
              <a:solidFill>
                <a:srgbClr val="000000"/>
              </a:solidFill>
              <a:latin typeface="Neue Haas Grotesk Text Pro"/>
            </a:endParaRPr>
          </a:p>
          <a:p>
            <a:r>
              <a:rPr lang="es-ES" sz="2800" b="0" dirty="0" err="1">
                <a:solidFill>
                  <a:srgbClr val="CCCCCC"/>
                </a:solidFill>
                <a:highlight>
                  <a:srgbClr val="1F1F1F"/>
                </a:highlight>
                <a:latin typeface="Consolas"/>
              </a:rPr>
              <a:t>mascotas.id_duenio</a:t>
            </a:r>
            <a:r>
              <a:rPr lang="es-ES" sz="2800" b="0" dirty="0">
                <a:solidFill>
                  <a:srgbClr val="CCCCCC"/>
                </a:solidFill>
                <a:highlight>
                  <a:srgbClr val="1F1F1F"/>
                </a:highlight>
                <a:latin typeface="Consolas"/>
              </a:rPr>
              <a:t>;</a:t>
            </a:r>
            <a:endParaRPr lang="es-ES" sz="2800" dirty="0"/>
          </a:p>
          <a:p>
            <a:endParaRPr lang="es-ES" sz="2800" dirty="0">
              <a:solidFill>
                <a:schemeClr val="bg2"/>
              </a:solidFill>
            </a:endParaRPr>
          </a:p>
        </p:txBody>
      </p:sp>
      <p:pic>
        <p:nvPicPr>
          <p:cNvPr id="7" name="Imagen 6" descr="Interfaz de usuario gráfica, Aplicación, Tabla&#10;&#10;El contenido generado por IA puede ser incorrecto.">
            <a:extLst>
              <a:ext uri="{FF2B5EF4-FFF2-40B4-BE49-F238E27FC236}">
                <a16:creationId xmlns:a16="http://schemas.microsoft.com/office/drawing/2014/main" id="{75D29326-CAA2-DF85-521A-A70B08612F75}"/>
              </a:ext>
            </a:extLst>
          </p:cNvPr>
          <p:cNvPicPr>
            <a:picLocks noChangeAspect="1"/>
          </p:cNvPicPr>
          <p:nvPr/>
        </p:nvPicPr>
        <p:blipFill>
          <a:blip r:embed="rId3"/>
          <a:stretch>
            <a:fillRect/>
          </a:stretch>
        </p:blipFill>
        <p:spPr>
          <a:xfrm>
            <a:off x="4716404" y="2037811"/>
            <a:ext cx="7144289" cy="1617812"/>
          </a:xfrm>
          <a:prstGeom prst="rect">
            <a:avLst/>
          </a:prstGeom>
        </p:spPr>
      </p:pic>
      <p:sp>
        <p:nvSpPr>
          <p:cNvPr id="8" name="CuadroTexto 7">
            <a:extLst>
              <a:ext uri="{FF2B5EF4-FFF2-40B4-BE49-F238E27FC236}">
                <a16:creationId xmlns:a16="http://schemas.microsoft.com/office/drawing/2014/main" id="{6BF4D69B-2764-D224-1E8D-124AEF9BCB53}"/>
              </a:ext>
            </a:extLst>
          </p:cNvPr>
          <p:cNvSpPr txBox="1"/>
          <p:nvPr/>
        </p:nvSpPr>
        <p:spPr>
          <a:xfrm>
            <a:off x="5576454" y="4069773"/>
            <a:ext cx="629826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chemeClr val="bg2"/>
                </a:solidFill>
              </a:rPr>
              <a:t>La petición es sencilla, y como tal , requiere de una consulta sencilla con una unión </a:t>
            </a:r>
            <a:r>
              <a:rPr lang="es-ES" sz="2400" dirty="0" err="1">
                <a:solidFill>
                  <a:schemeClr val="bg2"/>
                </a:solidFill>
              </a:rPr>
              <a:t>en.tre</a:t>
            </a:r>
            <a:r>
              <a:rPr lang="es-ES" sz="2400" dirty="0">
                <a:solidFill>
                  <a:schemeClr val="bg2"/>
                </a:solidFill>
              </a:rPr>
              <a:t> las tablas de los Dueños y sus Mascotas.</a:t>
            </a:r>
            <a:endParaRPr lang="es-ES" sz="2000" dirty="0">
              <a:solidFill>
                <a:schemeClr val="bg2"/>
              </a:solidFill>
            </a:endParaRPr>
          </a:p>
        </p:txBody>
      </p:sp>
    </p:spTree>
    <p:extLst>
      <p:ext uri="{BB962C8B-B14F-4D97-AF65-F5344CB8AC3E}">
        <p14:creationId xmlns:p14="http://schemas.microsoft.com/office/powerpoint/2010/main" val="1190870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CAA51-A9AF-3139-5C92-42B2BC618810}"/>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BD90D17F-9158-E6F4-0129-680B17ECEEA9}"/>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6" name="Título 1">
            <a:extLst>
              <a:ext uri="{FF2B5EF4-FFF2-40B4-BE49-F238E27FC236}">
                <a16:creationId xmlns:a16="http://schemas.microsoft.com/office/drawing/2014/main" id="{9E2F845B-C06F-85CA-81A6-0AD1130771F6}"/>
              </a:ext>
            </a:extLst>
          </p:cNvPr>
          <p:cNvSpPr txBox="1">
            <a:spLocks/>
          </p:cNvSpPr>
          <p:nvPr/>
        </p:nvSpPr>
        <p:spPr>
          <a:xfrm>
            <a:off x="146823" y="327230"/>
            <a:ext cx="11113651" cy="636561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dirty="0">
                <a:solidFill>
                  <a:schemeClr val="bg2"/>
                </a:solidFill>
              </a:rPr>
              <a:t>Obtener las atenciones realizadas a las mascotas con los detalles del </a:t>
            </a:r>
            <a:r>
              <a:rPr lang="es-ES" sz="2800">
                <a:solidFill>
                  <a:schemeClr val="bg2"/>
                </a:solidFill>
              </a:rPr>
              <a:t>profesional</a:t>
            </a:r>
            <a:r>
              <a:rPr lang="es-ES" sz="2800" dirty="0">
                <a:solidFill>
                  <a:schemeClr val="bg2"/>
                </a:solidFill>
              </a:rPr>
              <a:t> que las atendió</a:t>
            </a:r>
            <a:endParaRPr lang="es-ES" dirty="0">
              <a:solidFill>
                <a:schemeClr val="bg2"/>
              </a:solidFill>
            </a:endParaRPr>
          </a:p>
          <a:p>
            <a:endParaRPr lang="es-ES" sz="2800" dirty="0">
              <a:solidFill>
                <a:schemeClr val="bg2"/>
              </a:solidFill>
            </a:endParaRPr>
          </a:p>
          <a:p>
            <a:endParaRPr lang="es-ES" sz="5400" dirty="0">
              <a:solidFill>
                <a:schemeClr val="bg2"/>
              </a:solidFill>
            </a:endParaRPr>
          </a:p>
          <a:p>
            <a:endParaRPr lang="es-ES" sz="5400" dirty="0">
              <a:solidFill>
                <a:schemeClr val="bg2"/>
              </a:solidFill>
              <a:latin typeface="Neue Haas Grotesk Text Pro"/>
            </a:endParaRPr>
          </a:p>
          <a:p>
            <a:r>
              <a:rPr lang="es-ES" sz="2400" b="0">
                <a:solidFill>
                  <a:srgbClr val="569CD6"/>
                </a:solidFill>
                <a:highlight>
                  <a:srgbClr val="1F1F1F"/>
                </a:highlight>
                <a:latin typeface="Consolas"/>
              </a:rPr>
              <a:t>SELECT</a:t>
            </a:r>
            <a:r>
              <a:rPr lang="es-ES" sz="2400" b="0" dirty="0">
                <a:solidFill>
                  <a:srgbClr val="CCCCCC"/>
                </a:solidFill>
                <a:highlight>
                  <a:srgbClr val="1F1F1F"/>
                </a:highlight>
                <a:latin typeface="Consolas"/>
              </a:rPr>
              <a:t> </a:t>
            </a:r>
            <a:endParaRPr lang="es-ES" sz="2400"/>
          </a:p>
          <a:p>
            <a:r>
              <a:rPr lang="es-ES" sz="2400" b="0" dirty="0" err="1">
                <a:solidFill>
                  <a:srgbClr val="CCCCCC"/>
                </a:solidFill>
                <a:highlight>
                  <a:srgbClr val="1F1F1F"/>
                </a:highlight>
                <a:latin typeface="Consolas"/>
              </a:rPr>
              <a:t>mascotas.nombre</a:t>
            </a:r>
            <a:r>
              <a:rPr lang="es-ES" sz="2400" b="0" dirty="0">
                <a:solidFill>
                  <a:srgbClr val="CCCCCC"/>
                </a:solidFill>
                <a:highlight>
                  <a:srgbClr val="1F1F1F"/>
                </a:highlight>
                <a:latin typeface="Consolas"/>
              </a:rPr>
              <a:t>,</a:t>
            </a:r>
            <a:endParaRPr lang="es-ES" sz="2400"/>
          </a:p>
          <a:p>
            <a:r>
              <a:rPr lang="es-ES" sz="2400" b="0" dirty="0" err="1">
                <a:solidFill>
                  <a:srgbClr val="CCCCCC"/>
                </a:solidFill>
                <a:highlight>
                  <a:srgbClr val="1F1F1F"/>
                </a:highlight>
                <a:latin typeface="Consolas"/>
              </a:rPr>
              <a:t>atenciones.descripcion</a:t>
            </a:r>
            <a:r>
              <a:rPr lang="es-ES" sz="2400" b="0" dirty="0">
                <a:solidFill>
                  <a:srgbClr val="CCCCCC"/>
                </a:solidFill>
                <a:highlight>
                  <a:srgbClr val="1F1F1F"/>
                </a:highlight>
                <a:latin typeface="Consolas"/>
              </a:rPr>
              <a:t>,</a:t>
            </a:r>
            <a:endParaRPr lang="es-ES" sz="2400"/>
          </a:p>
          <a:p>
            <a:r>
              <a:rPr lang="es-ES" sz="2400" b="0" dirty="0" err="1">
                <a:solidFill>
                  <a:srgbClr val="CCCCCC"/>
                </a:solidFill>
                <a:highlight>
                  <a:srgbClr val="1F1F1F"/>
                </a:highlight>
                <a:latin typeface="Consolas"/>
              </a:rPr>
              <a:t>atenciones.fecha_atencion</a:t>
            </a:r>
            <a:r>
              <a:rPr lang="es-ES" sz="2400" b="0" dirty="0">
                <a:solidFill>
                  <a:srgbClr val="CCCCCC"/>
                </a:solidFill>
                <a:highlight>
                  <a:srgbClr val="1F1F1F"/>
                </a:highlight>
                <a:latin typeface="Consolas"/>
              </a:rPr>
              <a:t>,</a:t>
            </a:r>
            <a:endParaRPr lang="es-ES" sz="2400"/>
          </a:p>
          <a:p>
            <a:r>
              <a:rPr lang="es-ES" sz="2400" b="0" dirty="0" err="1">
                <a:solidFill>
                  <a:srgbClr val="CCCCCC"/>
                </a:solidFill>
                <a:highlight>
                  <a:srgbClr val="1F1F1F"/>
                </a:highlight>
                <a:latin typeface="Consolas"/>
              </a:rPr>
              <a:t>profesionales.nombre</a:t>
            </a:r>
            <a:endParaRPr lang="es-ES" sz="2400"/>
          </a:p>
          <a:p>
            <a:r>
              <a:rPr lang="es-ES" sz="2400" b="0">
                <a:solidFill>
                  <a:srgbClr val="569CD6"/>
                </a:solidFill>
                <a:highlight>
                  <a:srgbClr val="1F1F1F"/>
                </a:highlight>
                <a:latin typeface="Consolas"/>
              </a:rPr>
              <a:t>FROM</a:t>
            </a:r>
            <a:r>
              <a:rPr lang="es-ES" sz="2400" b="0">
                <a:solidFill>
                  <a:srgbClr val="CCCCCC"/>
                </a:solidFill>
                <a:highlight>
                  <a:srgbClr val="1F1F1F"/>
                </a:highlight>
                <a:latin typeface="Consolas"/>
              </a:rPr>
              <a:t> atenciones</a:t>
            </a:r>
            <a:endParaRPr lang="es-ES" sz="2400"/>
          </a:p>
          <a:p>
            <a:r>
              <a:rPr lang="es-ES" sz="2400" b="0" dirty="0">
                <a:solidFill>
                  <a:srgbClr val="569CD6"/>
                </a:solidFill>
                <a:highlight>
                  <a:srgbClr val="1F1F1F"/>
                </a:highlight>
                <a:latin typeface="Consolas"/>
              </a:rPr>
              <a:t>INNER JOIN</a:t>
            </a:r>
            <a:r>
              <a:rPr lang="es-ES" sz="2400" b="0" dirty="0">
                <a:solidFill>
                  <a:srgbClr val="CCCCCC"/>
                </a:solidFill>
                <a:highlight>
                  <a:srgbClr val="1F1F1F"/>
                </a:highlight>
                <a:latin typeface="Consolas"/>
              </a:rPr>
              <a:t> mascotas </a:t>
            </a:r>
            <a:r>
              <a:rPr lang="es-ES" sz="2400" b="0" dirty="0">
                <a:solidFill>
                  <a:srgbClr val="569CD6"/>
                </a:solidFill>
                <a:highlight>
                  <a:srgbClr val="1F1F1F"/>
                </a:highlight>
                <a:latin typeface="Consolas"/>
              </a:rPr>
              <a:t>ON</a:t>
            </a:r>
            <a:r>
              <a:rPr lang="es-ES" sz="2400" b="0" dirty="0">
                <a:solidFill>
                  <a:srgbClr val="CCCCCC"/>
                </a:solidFill>
                <a:highlight>
                  <a:srgbClr val="1F1F1F"/>
                </a:highlight>
                <a:latin typeface="Consolas"/>
              </a:rPr>
              <a:t> </a:t>
            </a:r>
            <a:r>
              <a:rPr lang="es-ES" sz="2400" b="0" dirty="0" err="1">
                <a:solidFill>
                  <a:srgbClr val="CCCCCC"/>
                </a:solidFill>
                <a:highlight>
                  <a:srgbClr val="1F1F1F"/>
                </a:highlight>
                <a:latin typeface="Consolas"/>
              </a:rPr>
              <a:t>mascotas.id_mascota</a:t>
            </a:r>
            <a:r>
              <a:rPr lang="es-ES" sz="2400" b="0" dirty="0">
                <a:solidFill>
                  <a:srgbClr val="CCCCCC"/>
                </a:solidFill>
                <a:highlight>
                  <a:srgbClr val="1F1F1F"/>
                </a:highlight>
                <a:latin typeface="Consolas"/>
              </a:rPr>
              <a:t> </a:t>
            </a:r>
            <a:r>
              <a:rPr lang="es-ES" sz="2400" b="0" dirty="0">
                <a:solidFill>
                  <a:srgbClr val="D4D4D4"/>
                </a:solidFill>
                <a:highlight>
                  <a:srgbClr val="1F1F1F"/>
                </a:highlight>
                <a:latin typeface="Consolas"/>
              </a:rPr>
              <a:t>=</a:t>
            </a:r>
            <a:r>
              <a:rPr lang="es-ES" sz="2400" b="0" dirty="0">
                <a:solidFill>
                  <a:srgbClr val="CCCCCC"/>
                </a:solidFill>
                <a:highlight>
                  <a:srgbClr val="1F1F1F"/>
                </a:highlight>
                <a:latin typeface="Consolas"/>
              </a:rPr>
              <a:t> </a:t>
            </a:r>
            <a:r>
              <a:rPr lang="es-ES" sz="2400" b="0" dirty="0" err="1">
                <a:solidFill>
                  <a:srgbClr val="CCCCCC"/>
                </a:solidFill>
                <a:highlight>
                  <a:srgbClr val="1F1F1F"/>
                </a:highlight>
                <a:latin typeface="Consolas"/>
              </a:rPr>
              <a:t>atenciones.id_mascota</a:t>
            </a:r>
            <a:endParaRPr lang="es-ES" sz="2400"/>
          </a:p>
          <a:p>
            <a:r>
              <a:rPr lang="es-ES" sz="2400" b="0" dirty="0">
                <a:solidFill>
                  <a:srgbClr val="569CD6"/>
                </a:solidFill>
                <a:highlight>
                  <a:srgbClr val="1F1F1F"/>
                </a:highlight>
                <a:latin typeface="Consolas"/>
              </a:rPr>
              <a:t>INNER JOIN</a:t>
            </a:r>
            <a:r>
              <a:rPr lang="es-ES" sz="2400" b="0" dirty="0">
                <a:solidFill>
                  <a:srgbClr val="CCCCCC"/>
                </a:solidFill>
                <a:highlight>
                  <a:srgbClr val="1F1F1F"/>
                </a:highlight>
                <a:latin typeface="Consolas"/>
              </a:rPr>
              <a:t> profesionales </a:t>
            </a:r>
            <a:r>
              <a:rPr lang="es-ES" sz="2400" b="0" dirty="0">
                <a:solidFill>
                  <a:srgbClr val="569CD6"/>
                </a:solidFill>
                <a:highlight>
                  <a:srgbClr val="1F1F1F"/>
                </a:highlight>
                <a:latin typeface="Consolas"/>
              </a:rPr>
              <a:t>ON</a:t>
            </a:r>
            <a:r>
              <a:rPr lang="es-ES" sz="2400" b="0" dirty="0">
                <a:solidFill>
                  <a:srgbClr val="CCCCCC"/>
                </a:solidFill>
                <a:highlight>
                  <a:srgbClr val="1F1F1F"/>
                </a:highlight>
                <a:latin typeface="Consolas"/>
              </a:rPr>
              <a:t> </a:t>
            </a:r>
            <a:r>
              <a:rPr lang="es-ES" sz="2400" b="0" dirty="0" err="1">
                <a:solidFill>
                  <a:srgbClr val="CCCCCC"/>
                </a:solidFill>
                <a:highlight>
                  <a:srgbClr val="1F1F1F"/>
                </a:highlight>
                <a:latin typeface="Consolas"/>
              </a:rPr>
              <a:t>atenciones.id_profesional</a:t>
            </a:r>
            <a:r>
              <a:rPr lang="es-ES" sz="2400" b="0" dirty="0">
                <a:solidFill>
                  <a:srgbClr val="CCCCCC"/>
                </a:solidFill>
                <a:highlight>
                  <a:srgbClr val="1F1F1F"/>
                </a:highlight>
                <a:latin typeface="Consolas"/>
              </a:rPr>
              <a:t> </a:t>
            </a:r>
            <a:r>
              <a:rPr lang="es-ES" sz="2400" b="0" dirty="0">
                <a:solidFill>
                  <a:srgbClr val="D4D4D4"/>
                </a:solidFill>
                <a:highlight>
                  <a:srgbClr val="1F1F1F"/>
                </a:highlight>
                <a:latin typeface="Consolas"/>
              </a:rPr>
              <a:t>=</a:t>
            </a:r>
            <a:r>
              <a:rPr lang="es-ES" sz="2400" b="0" dirty="0">
                <a:solidFill>
                  <a:srgbClr val="CCCCCC"/>
                </a:solidFill>
                <a:highlight>
                  <a:srgbClr val="1F1F1F"/>
                </a:highlight>
                <a:latin typeface="Consolas"/>
              </a:rPr>
              <a:t> </a:t>
            </a:r>
            <a:r>
              <a:rPr lang="es-ES" sz="2400" b="0" dirty="0" err="1">
                <a:solidFill>
                  <a:srgbClr val="CCCCCC"/>
                </a:solidFill>
                <a:highlight>
                  <a:srgbClr val="1F1F1F"/>
                </a:highlight>
                <a:latin typeface="Consolas"/>
              </a:rPr>
              <a:t>profesionales.id_profesional</a:t>
            </a:r>
            <a:r>
              <a:rPr lang="es-ES" sz="2400" b="0" dirty="0">
                <a:solidFill>
                  <a:srgbClr val="CCCCCC"/>
                </a:solidFill>
                <a:highlight>
                  <a:srgbClr val="1F1F1F"/>
                </a:highlight>
                <a:latin typeface="Consolas"/>
              </a:rPr>
              <a:t>;</a:t>
            </a:r>
            <a:endParaRPr lang="es-ES" sz="2400"/>
          </a:p>
          <a:p>
            <a:endParaRPr lang="es-ES" sz="5400" b="0" dirty="0">
              <a:solidFill>
                <a:srgbClr val="CCCCCC"/>
              </a:solidFill>
              <a:highlight>
                <a:srgbClr val="1F1F1F"/>
              </a:highlight>
              <a:latin typeface="Consolas"/>
            </a:endParaRPr>
          </a:p>
          <a:p>
            <a:endParaRPr lang="es-ES" sz="5400" dirty="0">
              <a:solidFill>
                <a:schemeClr val="bg2"/>
              </a:solidFill>
            </a:endParaRPr>
          </a:p>
        </p:txBody>
      </p:sp>
      <p:sp>
        <p:nvSpPr>
          <p:cNvPr id="8" name="CuadroTexto 7">
            <a:extLst>
              <a:ext uri="{FF2B5EF4-FFF2-40B4-BE49-F238E27FC236}">
                <a16:creationId xmlns:a16="http://schemas.microsoft.com/office/drawing/2014/main" id="{D36CF794-28AF-41B7-36A2-B63178B2F697}"/>
              </a:ext>
            </a:extLst>
          </p:cNvPr>
          <p:cNvSpPr txBox="1"/>
          <p:nvPr/>
        </p:nvSpPr>
        <p:spPr>
          <a:xfrm>
            <a:off x="5015738" y="3164000"/>
            <a:ext cx="697399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chemeClr val="bg2"/>
                </a:solidFill>
              </a:rPr>
              <a:t>En esta consulta, hizo falta hacer una unión entre la tabla de Atenciones, las de Mascotas </a:t>
            </a:r>
            <a:r>
              <a:rPr lang="es-ES" sz="2400">
                <a:solidFill>
                  <a:schemeClr val="bg2"/>
                </a:solidFill>
              </a:rPr>
              <a:t>y Profesionales para entregar la información más clara.</a:t>
            </a:r>
            <a:endParaRPr lang="es-ES" sz="2400" dirty="0">
              <a:solidFill>
                <a:schemeClr val="bg2"/>
              </a:solidFill>
            </a:endParaRPr>
          </a:p>
        </p:txBody>
      </p:sp>
      <p:pic>
        <p:nvPicPr>
          <p:cNvPr id="3" name="Imagen 2" descr="Interfaz de usuario gráfica, Tabla&#10;&#10;El contenido generado por IA puede ser incorrecto.">
            <a:extLst>
              <a:ext uri="{FF2B5EF4-FFF2-40B4-BE49-F238E27FC236}">
                <a16:creationId xmlns:a16="http://schemas.microsoft.com/office/drawing/2014/main" id="{E0471E18-8F23-FDEC-EA21-F1D251DD4B08}"/>
              </a:ext>
            </a:extLst>
          </p:cNvPr>
          <p:cNvPicPr>
            <a:picLocks noChangeAspect="1"/>
          </p:cNvPicPr>
          <p:nvPr/>
        </p:nvPicPr>
        <p:blipFill>
          <a:blip r:embed="rId3"/>
          <a:stretch>
            <a:fillRect/>
          </a:stretch>
        </p:blipFill>
        <p:spPr>
          <a:xfrm>
            <a:off x="3752131" y="1553833"/>
            <a:ext cx="7937020" cy="1464333"/>
          </a:xfrm>
          <a:prstGeom prst="rect">
            <a:avLst/>
          </a:prstGeom>
        </p:spPr>
      </p:pic>
    </p:spTree>
    <p:extLst>
      <p:ext uri="{BB962C8B-B14F-4D97-AF65-F5344CB8AC3E}">
        <p14:creationId xmlns:p14="http://schemas.microsoft.com/office/powerpoint/2010/main" val="836347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A5CD6-A25C-CBFD-8463-B6DA4C3EE10B}"/>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21662C20-882D-65CC-7DED-76FDB15FBEDF}"/>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6" name="Título 1">
            <a:extLst>
              <a:ext uri="{FF2B5EF4-FFF2-40B4-BE49-F238E27FC236}">
                <a16:creationId xmlns:a16="http://schemas.microsoft.com/office/drawing/2014/main" id="{EB8E97E0-CA7F-0383-443E-B971EF27AB96}"/>
              </a:ext>
            </a:extLst>
          </p:cNvPr>
          <p:cNvSpPr txBox="1">
            <a:spLocks/>
          </p:cNvSpPr>
          <p:nvPr/>
        </p:nvSpPr>
        <p:spPr>
          <a:xfrm>
            <a:off x="146823" y="528513"/>
            <a:ext cx="8367576" cy="58336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rPr>
              <a:t>Contar la cantidad de atenciones por profesional</a:t>
            </a:r>
            <a:endParaRPr lang="es-ES"/>
          </a:p>
          <a:p>
            <a:endParaRPr lang="es-ES" sz="2800" dirty="0">
              <a:solidFill>
                <a:schemeClr val="bg2"/>
              </a:solidFill>
            </a:endParaRPr>
          </a:p>
          <a:p>
            <a:r>
              <a:rPr lang="es-ES" sz="2000" b="0">
                <a:solidFill>
                  <a:srgbClr val="569CD6"/>
                </a:solidFill>
                <a:highlight>
                  <a:srgbClr val="1F1F1F"/>
                </a:highlight>
                <a:latin typeface="Consolas"/>
              </a:rPr>
              <a:t>SELECT</a:t>
            </a:r>
            <a:endParaRPr lang="es-ES" sz="2000"/>
          </a:p>
          <a:p>
            <a:r>
              <a:rPr lang="es-ES" sz="2000" b="0" dirty="0" err="1">
                <a:solidFill>
                  <a:srgbClr val="CCCCCC"/>
                </a:solidFill>
                <a:highlight>
                  <a:srgbClr val="1F1F1F"/>
                </a:highlight>
                <a:latin typeface="Consolas"/>
              </a:rPr>
              <a:t>profesionales.nombre</a:t>
            </a:r>
            <a:r>
              <a:rPr lang="es-ES" sz="2000" b="0" dirty="0">
                <a:solidFill>
                  <a:srgbClr val="CCCCCC"/>
                </a:solidFill>
                <a:highlight>
                  <a:srgbClr val="1F1F1F"/>
                </a:highlight>
                <a:latin typeface="Consolas"/>
              </a:rPr>
              <a:t>,</a:t>
            </a:r>
            <a:endParaRPr lang="es-ES" sz="2000"/>
          </a:p>
          <a:p>
            <a:r>
              <a:rPr lang="es-ES" sz="2000" b="0" dirty="0" err="1">
                <a:solidFill>
                  <a:srgbClr val="CCCCCC"/>
                </a:solidFill>
                <a:highlight>
                  <a:srgbClr val="1F1F1F"/>
                </a:highlight>
                <a:latin typeface="Consolas"/>
              </a:rPr>
              <a:t>profesionales.especialidad</a:t>
            </a:r>
            <a:r>
              <a:rPr lang="es-ES" sz="2000" b="0" dirty="0">
                <a:solidFill>
                  <a:srgbClr val="CCCCCC"/>
                </a:solidFill>
                <a:highlight>
                  <a:srgbClr val="1F1F1F"/>
                </a:highlight>
                <a:latin typeface="Consolas"/>
              </a:rPr>
              <a:t>,</a:t>
            </a:r>
            <a:endParaRPr lang="es-ES" sz="2000"/>
          </a:p>
          <a:p>
            <a:r>
              <a:rPr lang="es-ES" sz="2000" b="0" dirty="0">
                <a:solidFill>
                  <a:srgbClr val="DCDCAA"/>
                </a:solidFill>
                <a:highlight>
                  <a:srgbClr val="1F1F1F"/>
                </a:highlight>
                <a:latin typeface="Consolas"/>
              </a:rPr>
              <a:t>COUNT</a:t>
            </a:r>
            <a:r>
              <a:rPr lang="es-ES" sz="2000" b="0" dirty="0">
                <a:solidFill>
                  <a:srgbClr val="CCCCCC"/>
                </a:solidFill>
                <a:highlight>
                  <a:srgbClr val="1F1F1F"/>
                </a:highlight>
                <a:latin typeface="Consolas"/>
              </a:rPr>
              <a:t>(</a:t>
            </a:r>
            <a:r>
              <a:rPr lang="es-ES" sz="2000" b="0" dirty="0" err="1">
                <a:solidFill>
                  <a:srgbClr val="CCCCCC"/>
                </a:solidFill>
                <a:highlight>
                  <a:srgbClr val="1F1F1F"/>
                </a:highlight>
                <a:latin typeface="Consolas"/>
              </a:rPr>
              <a:t>atenciones.id_atencion</a:t>
            </a:r>
            <a:r>
              <a:rPr lang="es-ES" sz="2000" b="0" dirty="0">
                <a:solidFill>
                  <a:srgbClr val="CCCCCC"/>
                </a:solidFill>
                <a:highlight>
                  <a:srgbClr val="1F1F1F"/>
                </a:highlight>
                <a:latin typeface="Consolas"/>
              </a:rPr>
              <a:t>) </a:t>
            </a:r>
            <a:r>
              <a:rPr lang="es-ES" sz="2000" b="0" dirty="0">
                <a:solidFill>
                  <a:srgbClr val="569CD6"/>
                </a:solidFill>
                <a:highlight>
                  <a:srgbClr val="1F1F1F"/>
                </a:highlight>
                <a:latin typeface="Consolas"/>
              </a:rPr>
              <a:t>as</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cantidad_atenciones</a:t>
            </a:r>
            <a:endParaRPr lang="es-ES" sz="2000"/>
          </a:p>
          <a:p>
            <a:r>
              <a:rPr lang="es-ES" sz="2000" b="0">
                <a:solidFill>
                  <a:srgbClr val="569CD6"/>
                </a:solidFill>
                <a:highlight>
                  <a:srgbClr val="1F1F1F"/>
                </a:highlight>
                <a:latin typeface="Consolas"/>
              </a:rPr>
              <a:t>FROM</a:t>
            </a:r>
            <a:r>
              <a:rPr lang="es-ES" sz="2000" b="0">
                <a:solidFill>
                  <a:srgbClr val="CCCCCC"/>
                </a:solidFill>
                <a:highlight>
                  <a:srgbClr val="1F1F1F"/>
                </a:highlight>
                <a:latin typeface="Consolas"/>
              </a:rPr>
              <a:t> profesionales</a:t>
            </a:r>
            <a:endParaRPr lang="es-ES" sz="2000"/>
          </a:p>
          <a:p>
            <a:r>
              <a:rPr lang="es-ES" sz="2000" b="0" dirty="0">
                <a:solidFill>
                  <a:srgbClr val="569CD6"/>
                </a:solidFill>
                <a:highlight>
                  <a:srgbClr val="1F1F1F"/>
                </a:highlight>
                <a:latin typeface="Consolas"/>
              </a:rPr>
              <a:t>INNER JOIN</a:t>
            </a:r>
            <a:r>
              <a:rPr lang="es-ES" sz="2000" b="0" dirty="0">
                <a:solidFill>
                  <a:srgbClr val="CCCCCC"/>
                </a:solidFill>
                <a:highlight>
                  <a:srgbClr val="1F1F1F"/>
                </a:highlight>
                <a:latin typeface="Consolas"/>
              </a:rPr>
              <a:t> atenciones </a:t>
            </a:r>
            <a:r>
              <a:rPr lang="es-ES" sz="2000" b="0" dirty="0">
                <a:solidFill>
                  <a:srgbClr val="569CD6"/>
                </a:solidFill>
                <a:highlight>
                  <a:srgbClr val="1F1F1F"/>
                </a:highlight>
                <a:latin typeface="Consolas"/>
              </a:rPr>
              <a:t>ON</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atenciones.id_profesional</a:t>
            </a:r>
            <a:r>
              <a:rPr lang="es-ES" sz="2000" b="0" dirty="0">
                <a:solidFill>
                  <a:srgbClr val="CCCCCC"/>
                </a:solidFill>
                <a:highlight>
                  <a:srgbClr val="1F1F1F"/>
                </a:highlight>
                <a:latin typeface="Consolas"/>
              </a:rPr>
              <a:t> </a:t>
            </a:r>
            <a:r>
              <a:rPr lang="es-ES" sz="2000" b="0" dirty="0">
                <a:solidFill>
                  <a:srgbClr val="D4D4D4"/>
                </a:solidFill>
                <a:highlight>
                  <a:srgbClr val="1F1F1F"/>
                </a:highlight>
                <a:latin typeface="Consolas"/>
              </a:rPr>
              <a:t>=</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profesionales.id_profesional</a:t>
            </a:r>
            <a:endParaRPr lang="es-ES" sz="2000"/>
          </a:p>
          <a:p>
            <a:r>
              <a:rPr lang="es-ES" sz="2000" b="0" dirty="0">
                <a:solidFill>
                  <a:srgbClr val="569CD6"/>
                </a:solidFill>
                <a:highlight>
                  <a:srgbClr val="1F1F1F"/>
                </a:highlight>
                <a:latin typeface="Consolas"/>
              </a:rPr>
              <a:t>GROUP BY</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profesionales.nombre</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profesionales.especialidad</a:t>
            </a:r>
            <a:r>
              <a:rPr lang="es-ES" sz="2000" b="0" dirty="0">
                <a:solidFill>
                  <a:srgbClr val="CCCCCC"/>
                </a:solidFill>
                <a:highlight>
                  <a:srgbClr val="1F1F1F"/>
                </a:highlight>
                <a:latin typeface="Consolas"/>
              </a:rPr>
              <a:t>;</a:t>
            </a:r>
            <a:endParaRPr lang="es-ES" sz="2000"/>
          </a:p>
          <a:p>
            <a:endParaRPr lang="es-ES" sz="2800" b="0" dirty="0">
              <a:solidFill>
                <a:srgbClr val="CCCCCC"/>
              </a:solidFill>
              <a:highlight>
                <a:srgbClr val="1F1F1F"/>
              </a:highlight>
              <a:latin typeface="Consolas"/>
            </a:endParaRPr>
          </a:p>
          <a:p>
            <a:endParaRPr lang="es-ES" sz="2800" dirty="0">
              <a:solidFill>
                <a:schemeClr val="bg2"/>
              </a:solidFill>
            </a:endParaRPr>
          </a:p>
        </p:txBody>
      </p:sp>
      <p:sp>
        <p:nvSpPr>
          <p:cNvPr id="8" name="CuadroTexto 7">
            <a:extLst>
              <a:ext uri="{FF2B5EF4-FFF2-40B4-BE49-F238E27FC236}">
                <a16:creationId xmlns:a16="http://schemas.microsoft.com/office/drawing/2014/main" id="{D3A4C704-D8B6-D00E-3FA0-783BAD72566F}"/>
              </a:ext>
            </a:extLst>
          </p:cNvPr>
          <p:cNvSpPr txBox="1"/>
          <p:nvPr/>
        </p:nvSpPr>
        <p:spPr>
          <a:xfrm>
            <a:off x="7215471" y="4141659"/>
            <a:ext cx="483177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chemeClr val="bg2"/>
                </a:solidFill>
              </a:rPr>
              <a:t>Al contar las consultas por doctor, también traje sus especialidades. Esto con el fin de estar al tanto de las especialidades más solicitadas para las </a:t>
            </a:r>
            <a:r>
              <a:rPr lang="es-ES" sz="2400">
                <a:solidFill>
                  <a:schemeClr val="bg2"/>
                </a:solidFill>
              </a:rPr>
              <a:t>mascotas.</a:t>
            </a:r>
            <a:endParaRPr lang="es-ES" sz="2400" dirty="0">
              <a:solidFill>
                <a:schemeClr val="bg2"/>
              </a:solidFill>
            </a:endParaRPr>
          </a:p>
        </p:txBody>
      </p:sp>
      <p:pic>
        <p:nvPicPr>
          <p:cNvPr id="3" name="Imagen 2" descr="Interfaz de usuario gráfica, Aplicación, Tabla&#10;&#10;El contenido generado por IA puede ser incorrecto.">
            <a:extLst>
              <a:ext uri="{FF2B5EF4-FFF2-40B4-BE49-F238E27FC236}">
                <a16:creationId xmlns:a16="http://schemas.microsoft.com/office/drawing/2014/main" id="{9567D21D-6F1A-4AF9-EBFA-3BA269D99603}"/>
              </a:ext>
            </a:extLst>
          </p:cNvPr>
          <p:cNvPicPr>
            <a:picLocks noChangeAspect="1"/>
          </p:cNvPicPr>
          <p:nvPr/>
        </p:nvPicPr>
        <p:blipFill>
          <a:blip r:embed="rId3"/>
          <a:stretch>
            <a:fillRect/>
          </a:stretch>
        </p:blipFill>
        <p:spPr>
          <a:xfrm>
            <a:off x="153747" y="4510717"/>
            <a:ext cx="6809296" cy="1574680"/>
          </a:xfrm>
          <a:prstGeom prst="rect">
            <a:avLst/>
          </a:prstGeom>
        </p:spPr>
      </p:pic>
    </p:spTree>
    <p:extLst>
      <p:ext uri="{BB962C8B-B14F-4D97-AF65-F5344CB8AC3E}">
        <p14:creationId xmlns:p14="http://schemas.microsoft.com/office/powerpoint/2010/main" val="330544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2D28-BFEF-96D3-8B26-3182997A6843}"/>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161528B1-42FB-8306-1A68-CE6F703789CD}"/>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6" name="Título 1">
            <a:extLst>
              <a:ext uri="{FF2B5EF4-FFF2-40B4-BE49-F238E27FC236}">
                <a16:creationId xmlns:a16="http://schemas.microsoft.com/office/drawing/2014/main" id="{C4B9D2E7-4D0A-74D6-663C-AC5B5EA03305}"/>
              </a:ext>
            </a:extLst>
          </p:cNvPr>
          <p:cNvSpPr txBox="1">
            <a:spLocks/>
          </p:cNvSpPr>
          <p:nvPr/>
        </p:nvSpPr>
        <p:spPr>
          <a:xfrm>
            <a:off x="146823" y="499758"/>
            <a:ext cx="11113651" cy="586240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ea typeface="+mj-lt"/>
                <a:cs typeface="+mj-lt"/>
              </a:rPr>
              <a:t>Actualizar la dirección de un dueño (por ejemplo, cambiar la dirección de Juan Pérez)</a:t>
            </a:r>
            <a:endParaRPr lang="es-ES">
              <a:solidFill>
                <a:schemeClr val="bg2"/>
              </a:solidFill>
            </a:endParaRPr>
          </a:p>
          <a:p>
            <a:endParaRPr lang="es-ES" sz="2800" dirty="0">
              <a:solidFill>
                <a:schemeClr val="bg2"/>
              </a:solidFill>
              <a:latin typeface="Neue Haas Grotesk Text Pro"/>
            </a:endParaRPr>
          </a:p>
          <a:p>
            <a:r>
              <a:rPr lang="es-ES" sz="2800" b="0" dirty="0">
                <a:solidFill>
                  <a:srgbClr val="569CD6"/>
                </a:solidFill>
                <a:highlight>
                  <a:srgbClr val="1F1F1F"/>
                </a:highlight>
                <a:latin typeface="Consolas"/>
              </a:rPr>
              <a:t>SELECT</a:t>
            </a:r>
            <a:r>
              <a:rPr lang="es-ES" sz="2800" b="0" dirty="0">
                <a:solidFill>
                  <a:srgbClr val="CCCCCC"/>
                </a:solidFill>
                <a:highlight>
                  <a:srgbClr val="1F1F1F"/>
                </a:highlight>
                <a:latin typeface="Consolas"/>
              </a:rPr>
              <a:t> nombre </a:t>
            </a:r>
            <a:r>
              <a:rPr lang="es-ES" sz="2800" b="0" dirty="0">
                <a:solidFill>
                  <a:srgbClr val="569CD6"/>
                </a:solidFill>
                <a:highlight>
                  <a:srgbClr val="1F1F1F"/>
                </a:highlight>
                <a:latin typeface="Consolas"/>
              </a:rPr>
              <a:t>FROM</a:t>
            </a:r>
            <a:r>
              <a:rPr lang="es-ES" sz="2800" b="0" dirty="0">
                <a:solidFill>
                  <a:srgbClr val="CCCCCC"/>
                </a:solidFill>
                <a:highlight>
                  <a:srgbClr val="1F1F1F"/>
                </a:highlight>
                <a:latin typeface="Consolas"/>
              </a:rPr>
              <a:t> </a:t>
            </a:r>
            <a:r>
              <a:rPr lang="es-ES" sz="2800" b="0" dirty="0" err="1">
                <a:solidFill>
                  <a:srgbClr val="CCCCCC"/>
                </a:solidFill>
                <a:highlight>
                  <a:srgbClr val="1F1F1F"/>
                </a:highlight>
                <a:latin typeface="Consolas"/>
              </a:rPr>
              <a:t>duenios</a:t>
            </a:r>
            <a:r>
              <a:rPr lang="es-ES" sz="2800" b="0" dirty="0">
                <a:solidFill>
                  <a:srgbClr val="CCCCCC"/>
                </a:solidFill>
                <a:highlight>
                  <a:srgbClr val="1F1F1F"/>
                </a:highlight>
                <a:latin typeface="Consolas"/>
              </a:rPr>
              <a:t> </a:t>
            </a:r>
            <a:r>
              <a:rPr lang="es-ES" sz="2800" b="0" dirty="0">
                <a:solidFill>
                  <a:srgbClr val="569CD6"/>
                </a:solidFill>
                <a:highlight>
                  <a:srgbClr val="1F1F1F"/>
                </a:highlight>
                <a:latin typeface="Consolas"/>
              </a:rPr>
              <a:t>WHERE</a:t>
            </a:r>
            <a:r>
              <a:rPr lang="es-ES" sz="2800" b="0" dirty="0">
                <a:solidFill>
                  <a:srgbClr val="CCCCCC"/>
                </a:solidFill>
                <a:highlight>
                  <a:srgbClr val="1F1F1F"/>
                </a:highlight>
                <a:latin typeface="Consolas"/>
              </a:rPr>
              <a:t> nombre </a:t>
            </a:r>
            <a:r>
              <a:rPr lang="es-ES" sz="2800" b="0" dirty="0">
                <a:solidFill>
                  <a:srgbClr val="569CD6"/>
                </a:solidFill>
                <a:highlight>
                  <a:srgbClr val="1F1F1F"/>
                </a:highlight>
                <a:latin typeface="Consolas"/>
              </a:rPr>
              <a:t>LIKE</a:t>
            </a:r>
            <a:r>
              <a:rPr lang="es-ES" sz="2800" b="0" dirty="0">
                <a:solidFill>
                  <a:srgbClr val="CCCCCC"/>
                </a:solidFill>
                <a:highlight>
                  <a:srgbClr val="1F1F1F"/>
                </a:highlight>
                <a:latin typeface="Consolas"/>
              </a:rPr>
              <a:t> </a:t>
            </a:r>
            <a:r>
              <a:rPr lang="es-ES" sz="2800" b="0" dirty="0">
                <a:solidFill>
                  <a:srgbClr val="CE9178"/>
                </a:solidFill>
                <a:highlight>
                  <a:srgbClr val="1F1F1F"/>
                </a:highlight>
                <a:latin typeface="Consolas"/>
              </a:rPr>
              <a:t>'Juan%'</a:t>
            </a:r>
            <a:r>
              <a:rPr lang="es-ES" sz="2800" b="0" dirty="0">
                <a:solidFill>
                  <a:srgbClr val="CCCCCC"/>
                </a:solidFill>
                <a:highlight>
                  <a:srgbClr val="1F1F1F"/>
                </a:highlight>
                <a:latin typeface="Consolas"/>
              </a:rPr>
              <a:t>;</a:t>
            </a:r>
            <a:endParaRPr lang="es-ES" sz="2800" dirty="0"/>
          </a:p>
          <a:p>
            <a:r>
              <a:rPr lang="es-ES" sz="2800" b="0" dirty="0">
                <a:solidFill>
                  <a:srgbClr val="569CD6"/>
                </a:solidFill>
                <a:highlight>
                  <a:srgbClr val="1F1F1F"/>
                </a:highlight>
                <a:latin typeface="Consolas"/>
              </a:rPr>
              <a:t>UPDATE</a:t>
            </a:r>
            <a:r>
              <a:rPr lang="es-ES" sz="2800" b="0" dirty="0">
                <a:solidFill>
                  <a:srgbClr val="CCCCCC"/>
                </a:solidFill>
                <a:highlight>
                  <a:srgbClr val="1F1F1F"/>
                </a:highlight>
                <a:latin typeface="Consolas"/>
              </a:rPr>
              <a:t> </a:t>
            </a:r>
            <a:r>
              <a:rPr lang="es-ES" sz="2800" b="0" dirty="0" err="1">
                <a:solidFill>
                  <a:srgbClr val="CCCCCC"/>
                </a:solidFill>
                <a:highlight>
                  <a:srgbClr val="1F1F1F"/>
                </a:highlight>
                <a:latin typeface="Consolas"/>
              </a:rPr>
              <a:t>duenios</a:t>
            </a:r>
            <a:endParaRPr lang="es-ES" sz="2800"/>
          </a:p>
          <a:p>
            <a:r>
              <a:rPr lang="es-ES" sz="2800" b="0" dirty="0">
                <a:solidFill>
                  <a:srgbClr val="569CD6"/>
                </a:solidFill>
                <a:highlight>
                  <a:srgbClr val="1F1F1F"/>
                </a:highlight>
                <a:latin typeface="Consolas"/>
              </a:rPr>
              <a:t>SET</a:t>
            </a:r>
            <a:r>
              <a:rPr lang="es-ES" sz="2800" b="0" dirty="0">
                <a:solidFill>
                  <a:srgbClr val="CCCCCC"/>
                </a:solidFill>
                <a:highlight>
                  <a:srgbClr val="1F1F1F"/>
                </a:highlight>
                <a:latin typeface="Consolas"/>
              </a:rPr>
              <a:t> </a:t>
            </a:r>
            <a:r>
              <a:rPr lang="es-ES" sz="2800" b="0" dirty="0" err="1">
                <a:solidFill>
                  <a:srgbClr val="CCCCCC"/>
                </a:solidFill>
                <a:highlight>
                  <a:srgbClr val="1F1F1F"/>
                </a:highlight>
                <a:latin typeface="Consolas"/>
              </a:rPr>
              <a:t>direccion</a:t>
            </a:r>
            <a:r>
              <a:rPr lang="es-ES" sz="2800" b="0" dirty="0">
                <a:solidFill>
                  <a:srgbClr val="CCCCCC"/>
                </a:solidFill>
                <a:highlight>
                  <a:srgbClr val="1F1F1F"/>
                </a:highlight>
                <a:latin typeface="Consolas"/>
              </a:rPr>
              <a:t> </a:t>
            </a:r>
            <a:r>
              <a:rPr lang="es-ES" sz="2800" b="0" dirty="0">
                <a:solidFill>
                  <a:srgbClr val="D4D4D4"/>
                </a:solidFill>
                <a:highlight>
                  <a:srgbClr val="1F1F1F"/>
                </a:highlight>
                <a:latin typeface="Consolas"/>
              </a:rPr>
              <a:t>=</a:t>
            </a:r>
            <a:r>
              <a:rPr lang="es-ES" sz="2800" b="0" dirty="0">
                <a:solidFill>
                  <a:srgbClr val="CCCCCC"/>
                </a:solidFill>
                <a:highlight>
                  <a:srgbClr val="1F1F1F"/>
                </a:highlight>
                <a:latin typeface="Consolas"/>
              </a:rPr>
              <a:t> </a:t>
            </a:r>
            <a:r>
              <a:rPr lang="es-ES" sz="2800" b="0" dirty="0">
                <a:solidFill>
                  <a:srgbClr val="CE9178"/>
                </a:solidFill>
                <a:highlight>
                  <a:srgbClr val="1F1F1F"/>
                </a:highlight>
                <a:latin typeface="Consolas"/>
              </a:rPr>
              <a:t>'Los Jardines 256'</a:t>
            </a:r>
            <a:endParaRPr lang="es-ES" sz="2800"/>
          </a:p>
          <a:p>
            <a:r>
              <a:rPr lang="es-ES" sz="2800" b="0">
                <a:solidFill>
                  <a:srgbClr val="569CD6"/>
                </a:solidFill>
                <a:highlight>
                  <a:srgbClr val="1F1F1F"/>
                </a:highlight>
                <a:latin typeface="Consolas"/>
              </a:rPr>
              <a:t>WHERE</a:t>
            </a:r>
            <a:r>
              <a:rPr lang="es-ES" sz="2800" b="0">
                <a:solidFill>
                  <a:srgbClr val="CCCCCC"/>
                </a:solidFill>
                <a:highlight>
                  <a:srgbClr val="1F1F1F"/>
                </a:highlight>
                <a:latin typeface="Consolas"/>
              </a:rPr>
              <a:t> nombre </a:t>
            </a:r>
            <a:r>
              <a:rPr lang="es-ES" sz="2800" b="0">
                <a:solidFill>
                  <a:srgbClr val="D4D4D4"/>
                </a:solidFill>
                <a:highlight>
                  <a:srgbClr val="1F1F1F"/>
                </a:highlight>
                <a:latin typeface="Consolas"/>
              </a:rPr>
              <a:t>=</a:t>
            </a:r>
            <a:r>
              <a:rPr lang="es-ES" sz="2800" b="0" dirty="0">
                <a:solidFill>
                  <a:srgbClr val="CCCCCC"/>
                </a:solidFill>
                <a:highlight>
                  <a:srgbClr val="1F1F1F"/>
                </a:highlight>
                <a:latin typeface="Consolas"/>
              </a:rPr>
              <a:t> </a:t>
            </a:r>
            <a:r>
              <a:rPr lang="es-ES" sz="2800" b="0">
                <a:solidFill>
                  <a:srgbClr val="CE9178"/>
                </a:solidFill>
                <a:highlight>
                  <a:srgbClr val="1F1F1F"/>
                </a:highlight>
                <a:latin typeface="Consolas"/>
              </a:rPr>
              <a:t>'Juan Pérez'</a:t>
            </a:r>
            <a:r>
              <a:rPr lang="es-ES" sz="2800" b="0">
                <a:solidFill>
                  <a:srgbClr val="CCCCCC"/>
                </a:solidFill>
                <a:highlight>
                  <a:srgbClr val="1F1F1F"/>
                </a:highlight>
                <a:latin typeface="Consolas"/>
              </a:rPr>
              <a:t>;</a:t>
            </a:r>
            <a:endParaRPr lang="es-ES" sz="2800"/>
          </a:p>
          <a:p>
            <a:endParaRPr lang="es-ES" sz="2800" b="0" dirty="0">
              <a:solidFill>
                <a:srgbClr val="CCCCCC"/>
              </a:solidFill>
              <a:highlight>
                <a:srgbClr val="1F1F1F"/>
              </a:highlight>
              <a:latin typeface="Consolas"/>
            </a:endParaRPr>
          </a:p>
          <a:p>
            <a:endParaRPr lang="es-ES" sz="2800" dirty="0">
              <a:solidFill>
                <a:schemeClr val="bg2"/>
              </a:solidFill>
            </a:endParaRPr>
          </a:p>
        </p:txBody>
      </p:sp>
      <p:sp>
        <p:nvSpPr>
          <p:cNvPr id="8" name="CuadroTexto 7">
            <a:extLst>
              <a:ext uri="{FF2B5EF4-FFF2-40B4-BE49-F238E27FC236}">
                <a16:creationId xmlns:a16="http://schemas.microsoft.com/office/drawing/2014/main" id="{E2B0D044-D0C4-0D05-2A16-61D494EF78D7}"/>
              </a:ext>
            </a:extLst>
          </p:cNvPr>
          <p:cNvSpPr txBox="1"/>
          <p:nvPr/>
        </p:nvSpPr>
        <p:spPr>
          <a:xfrm>
            <a:off x="3031662" y="4989924"/>
            <a:ext cx="888618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chemeClr val="bg2"/>
                </a:solidFill>
              </a:rPr>
              <a:t>La petición se hizo con un nombre en mente. Esto es usual porque no todos conocen la id del registro que se quiere cambiar. Por lo tanto, es ideal primero buscar el nombre </a:t>
            </a:r>
            <a:r>
              <a:rPr lang="es-ES" sz="2400">
                <a:solidFill>
                  <a:schemeClr val="bg2"/>
                </a:solidFill>
              </a:rPr>
              <a:t>entre los registros antes de hacer un cambio en los datos.</a:t>
            </a:r>
          </a:p>
        </p:txBody>
      </p:sp>
      <p:pic>
        <p:nvPicPr>
          <p:cNvPr id="9" name="Imagen 8" descr="Tabla&#10;&#10;El contenido generado por IA puede ser incorrecto.">
            <a:extLst>
              <a:ext uri="{FF2B5EF4-FFF2-40B4-BE49-F238E27FC236}">
                <a16:creationId xmlns:a16="http://schemas.microsoft.com/office/drawing/2014/main" id="{32F08156-E6CC-8DD4-CB6B-EE679543F4E7}"/>
              </a:ext>
            </a:extLst>
          </p:cNvPr>
          <p:cNvPicPr>
            <a:picLocks noChangeAspect="1"/>
          </p:cNvPicPr>
          <p:nvPr/>
        </p:nvPicPr>
        <p:blipFill>
          <a:blip r:embed="rId3"/>
          <a:stretch>
            <a:fillRect/>
          </a:stretch>
        </p:blipFill>
        <p:spPr>
          <a:xfrm>
            <a:off x="3046653" y="3317485"/>
            <a:ext cx="8873525" cy="1675141"/>
          </a:xfrm>
          <a:prstGeom prst="rect">
            <a:avLst/>
          </a:prstGeom>
        </p:spPr>
      </p:pic>
    </p:spTree>
    <p:extLst>
      <p:ext uri="{BB962C8B-B14F-4D97-AF65-F5344CB8AC3E}">
        <p14:creationId xmlns:p14="http://schemas.microsoft.com/office/powerpoint/2010/main" val="829686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5DBF9-7C46-1ECB-EC32-56F32F04AFAB}"/>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3C660674-C3AB-0C86-EE94-967D3729B59D}"/>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6" name="Título 1">
            <a:extLst>
              <a:ext uri="{FF2B5EF4-FFF2-40B4-BE49-F238E27FC236}">
                <a16:creationId xmlns:a16="http://schemas.microsoft.com/office/drawing/2014/main" id="{A978564B-15DF-D438-3DA2-813563923E45}"/>
              </a:ext>
            </a:extLst>
          </p:cNvPr>
          <p:cNvSpPr txBox="1">
            <a:spLocks/>
          </p:cNvSpPr>
          <p:nvPr/>
        </p:nvSpPr>
        <p:spPr>
          <a:xfrm>
            <a:off x="146823" y="528513"/>
            <a:ext cx="8367576" cy="58336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ea typeface="+mj-lt"/>
                <a:cs typeface="+mj-lt"/>
              </a:rPr>
              <a:t>Eliminar una atención (por ejemplo, eliminar la atención con el id 2)</a:t>
            </a:r>
            <a:endParaRPr lang="es-ES">
              <a:solidFill>
                <a:schemeClr val="bg2"/>
              </a:solidFill>
            </a:endParaRPr>
          </a:p>
          <a:p>
            <a:endParaRPr lang="es-ES" sz="2800" dirty="0">
              <a:solidFill>
                <a:schemeClr val="bg2"/>
              </a:solidFill>
            </a:endParaRPr>
          </a:p>
          <a:p>
            <a:r>
              <a:rPr lang="es-ES" sz="2400" b="0">
                <a:solidFill>
                  <a:srgbClr val="569CD6"/>
                </a:solidFill>
                <a:highlight>
                  <a:srgbClr val="1F1F1F"/>
                </a:highlight>
                <a:latin typeface="Consolas"/>
              </a:rPr>
              <a:t>DELETE</a:t>
            </a:r>
            <a:r>
              <a:rPr lang="es-ES" sz="2400" b="0" dirty="0">
                <a:solidFill>
                  <a:srgbClr val="CCCCCC"/>
                </a:solidFill>
                <a:highlight>
                  <a:srgbClr val="1F1F1F"/>
                </a:highlight>
                <a:latin typeface="Consolas"/>
              </a:rPr>
              <a:t> </a:t>
            </a:r>
            <a:r>
              <a:rPr lang="es-ES" sz="2400" b="0">
                <a:solidFill>
                  <a:srgbClr val="569CD6"/>
                </a:solidFill>
                <a:highlight>
                  <a:srgbClr val="1F1F1F"/>
                </a:highlight>
                <a:latin typeface="Consolas"/>
              </a:rPr>
              <a:t>FROM</a:t>
            </a:r>
            <a:r>
              <a:rPr lang="es-ES" sz="2400" b="0">
                <a:solidFill>
                  <a:srgbClr val="CCCCCC"/>
                </a:solidFill>
                <a:highlight>
                  <a:srgbClr val="1F1F1F"/>
                </a:highlight>
                <a:latin typeface="Consolas"/>
              </a:rPr>
              <a:t> atenciones</a:t>
            </a:r>
            <a:endParaRPr lang="es-ES" sz="2400"/>
          </a:p>
          <a:p>
            <a:r>
              <a:rPr lang="es-ES" sz="2400" b="0" dirty="0">
                <a:solidFill>
                  <a:srgbClr val="569CD6"/>
                </a:solidFill>
                <a:highlight>
                  <a:srgbClr val="1F1F1F"/>
                </a:highlight>
                <a:latin typeface="Consolas"/>
              </a:rPr>
              <a:t>WHERE</a:t>
            </a:r>
            <a:r>
              <a:rPr lang="es-ES" sz="2400" b="0" dirty="0">
                <a:solidFill>
                  <a:srgbClr val="CCCCCC"/>
                </a:solidFill>
                <a:highlight>
                  <a:srgbClr val="1F1F1F"/>
                </a:highlight>
                <a:latin typeface="Consolas"/>
              </a:rPr>
              <a:t> </a:t>
            </a:r>
            <a:r>
              <a:rPr lang="es-ES" sz="2400" b="0" dirty="0" err="1">
                <a:solidFill>
                  <a:srgbClr val="CCCCCC"/>
                </a:solidFill>
                <a:highlight>
                  <a:srgbClr val="1F1F1F"/>
                </a:highlight>
                <a:latin typeface="Consolas"/>
              </a:rPr>
              <a:t>id_atencion</a:t>
            </a:r>
            <a:r>
              <a:rPr lang="es-ES" sz="2400" b="0" dirty="0">
                <a:solidFill>
                  <a:srgbClr val="CCCCCC"/>
                </a:solidFill>
                <a:highlight>
                  <a:srgbClr val="1F1F1F"/>
                </a:highlight>
                <a:latin typeface="Consolas"/>
              </a:rPr>
              <a:t> </a:t>
            </a:r>
            <a:r>
              <a:rPr lang="es-ES" sz="2400" b="0" dirty="0">
                <a:solidFill>
                  <a:srgbClr val="D4D4D4"/>
                </a:solidFill>
                <a:highlight>
                  <a:srgbClr val="1F1F1F"/>
                </a:highlight>
                <a:latin typeface="Consolas"/>
              </a:rPr>
              <a:t>=</a:t>
            </a:r>
            <a:r>
              <a:rPr lang="es-ES" sz="2400" b="0" dirty="0">
                <a:solidFill>
                  <a:srgbClr val="CCCCCC"/>
                </a:solidFill>
                <a:highlight>
                  <a:srgbClr val="1F1F1F"/>
                </a:highlight>
                <a:latin typeface="Consolas"/>
              </a:rPr>
              <a:t> </a:t>
            </a:r>
            <a:r>
              <a:rPr lang="es-ES" sz="2400" b="0" dirty="0">
                <a:solidFill>
                  <a:srgbClr val="B5CEA8"/>
                </a:solidFill>
                <a:highlight>
                  <a:srgbClr val="1F1F1F"/>
                </a:highlight>
                <a:latin typeface="Consolas"/>
              </a:rPr>
              <a:t>2</a:t>
            </a:r>
            <a:r>
              <a:rPr lang="es-ES" sz="2400" b="0" dirty="0">
                <a:solidFill>
                  <a:srgbClr val="CCCCCC"/>
                </a:solidFill>
                <a:highlight>
                  <a:srgbClr val="1F1F1F"/>
                </a:highlight>
                <a:latin typeface="Consolas"/>
              </a:rPr>
              <a:t>;</a:t>
            </a:r>
            <a:endParaRPr lang="es-ES" sz="2800" dirty="0"/>
          </a:p>
          <a:p>
            <a:endParaRPr lang="es-ES" sz="2000" b="0" dirty="0">
              <a:solidFill>
                <a:srgbClr val="569CD6"/>
              </a:solidFill>
              <a:highlight>
                <a:srgbClr val="1F1F1F"/>
              </a:highlight>
              <a:latin typeface="Consolas"/>
            </a:endParaRPr>
          </a:p>
          <a:p>
            <a:endParaRPr lang="es-ES" sz="2800" b="0" dirty="0">
              <a:solidFill>
                <a:srgbClr val="CCCCCC"/>
              </a:solidFill>
              <a:highlight>
                <a:srgbClr val="1F1F1F"/>
              </a:highlight>
              <a:latin typeface="Consolas"/>
            </a:endParaRPr>
          </a:p>
          <a:p>
            <a:endParaRPr lang="es-ES" sz="2800" dirty="0">
              <a:solidFill>
                <a:schemeClr val="bg2"/>
              </a:solidFill>
            </a:endParaRPr>
          </a:p>
        </p:txBody>
      </p:sp>
      <p:sp>
        <p:nvSpPr>
          <p:cNvPr id="8" name="CuadroTexto 7">
            <a:extLst>
              <a:ext uri="{FF2B5EF4-FFF2-40B4-BE49-F238E27FC236}">
                <a16:creationId xmlns:a16="http://schemas.microsoft.com/office/drawing/2014/main" id="{B75125C8-20FA-74A7-A392-6E6FB6816822}"/>
              </a:ext>
            </a:extLst>
          </p:cNvPr>
          <p:cNvSpPr txBox="1"/>
          <p:nvPr/>
        </p:nvSpPr>
        <p:spPr>
          <a:xfrm>
            <a:off x="299962" y="4932413"/>
            <a:ext cx="1174728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a:solidFill>
                  <a:schemeClr val="bg2"/>
                </a:solidFill>
              </a:rPr>
              <a:t>La operación es sencilla. Donde ninguna tabla depende de Atenciones, no hay problemas al eliminar registros con </a:t>
            </a:r>
            <a:r>
              <a:rPr lang="es-ES" sz="2400">
                <a:solidFill>
                  <a:srgbClr val="569CD6"/>
                </a:solidFill>
                <a:highlight>
                  <a:srgbClr val="1F1F1F"/>
                </a:highlight>
                <a:latin typeface="Consolas"/>
              </a:rPr>
              <a:t>DELETE</a:t>
            </a:r>
            <a:r>
              <a:rPr lang="es-ES" sz="2400" dirty="0">
                <a:solidFill>
                  <a:schemeClr val="bg2"/>
                </a:solidFill>
              </a:rPr>
              <a:t> </a:t>
            </a:r>
          </a:p>
        </p:txBody>
      </p:sp>
      <p:pic>
        <p:nvPicPr>
          <p:cNvPr id="2" name="Imagen 1" descr="Interfaz de usuario gráfica, Texto, Aplicación, Chat o mensaje de texto&#10;&#10;El contenido generado por IA puede ser incorrecto.">
            <a:extLst>
              <a:ext uri="{FF2B5EF4-FFF2-40B4-BE49-F238E27FC236}">
                <a16:creationId xmlns:a16="http://schemas.microsoft.com/office/drawing/2014/main" id="{82C8BA9D-4FC0-425D-E98B-C8A006A346D5}"/>
              </a:ext>
            </a:extLst>
          </p:cNvPr>
          <p:cNvPicPr>
            <a:picLocks noChangeAspect="1"/>
          </p:cNvPicPr>
          <p:nvPr/>
        </p:nvPicPr>
        <p:blipFill>
          <a:blip r:embed="rId3"/>
          <a:stretch>
            <a:fillRect/>
          </a:stretch>
        </p:blipFill>
        <p:spPr>
          <a:xfrm>
            <a:off x="296444" y="3249553"/>
            <a:ext cx="9241227" cy="1336555"/>
          </a:xfrm>
          <a:prstGeom prst="rect">
            <a:avLst/>
          </a:prstGeom>
        </p:spPr>
      </p:pic>
    </p:spTree>
    <p:extLst>
      <p:ext uri="{BB962C8B-B14F-4D97-AF65-F5344CB8AC3E}">
        <p14:creationId xmlns:p14="http://schemas.microsoft.com/office/powerpoint/2010/main" val="3737071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DFA8D-0F1C-737A-4DDC-FF2ACE8734AA}"/>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E283E39A-E756-0CD1-3D08-0737FE57FA34}"/>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6" name="Título 1">
            <a:extLst>
              <a:ext uri="{FF2B5EF4-FFF2-40B4-BE49-F238E27FC236}">
                <a16:creationId xmlns:a16="http://schemas.microsoft.com/office/drawing/2014/main" id="{C6C068D8-43D9-53F4-DD72-13CBB0AEC0DC}"/>
              </a:ext>
            </a:extLst>
          </p:cNvPr>
          <p:cNvSpPr txBox="1">
            <a:spLocks/>
          </p:cNvSpPr>
          <p:nvPr/>
        </p:nvSpPr>
        <p:spPr>
          <a:xfrm>
            <a:off x="146823" y="528513"/>
            <a:ext cx="11602481" cy="58336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a:solidFill>
                  <a:schemeClr val="bg2"/>
                </a:solidFill>
                <a:ea typeface="+mj-lt"/>
                <a:cs typeface="+mj-lt"/>
              </a:rPr>
              <a:t>Realizar una transacción para agregar una nueva mascota, atención, y actualización de la información</a:t>
            </a:r>
            <a:endParaRPr lang="es-ES">
              <a:solidFill>
                <a:schemeClr val="bg2"/>
              </a:solidFill>
            </a:endParaRPr>
          </a:p>
          <a:p>
            <a:endParaRPr lang="es-ES" sz="1800" dirty="0">
              <a:solidFill>
                <a:schemeClr val="bg2"/>
              </a:solidFill>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endParaRPr lang="es-ES" sz="1800" dirty="0">
              <a:solidFill>
                <a:schemeClr val="bg2"/>
              </a:solidFill>
              <a:latin typeface="Neue Haas Grotesk Text Pro"/>
            </a:endParaRPr>
          </a:p>
          <a:p>
            <a:r>
              <a:rPr lang="es-ES" sz="2000" b="0">
                <a:solidFill>
                  <a:srgbClr val="569CD6"/>
                </a:solidFill>
                <a:highlight>
                  <a:srgbClr val="1F1F1F"/>
                </a:highlight>
                <a:latin typeface="Consolas"/>
              </a:rPr>
              <a:t>BEGIN</a:t>
            </a:r>
            <a:r>
              <a:rPr lang="es-ES" sz="2000" b="0">
                <a:solidFill>
                  <a:srgbClr val="CCCCCC"/>
                </a:solidFill>
                <a:highlight>
                  <a:srgbClr val="1F1F1F"/>
                </a:highlight>
                <a:latin typeface="Consolas"/>
              </a:rPr>
              <a:t>;</a:t>
            </a:r>
            <a:endParaRPr lang="es-ES" sz="2000"/>
          </a:p>
          <a:p>
            <a:r>
              <a:rPr lang="es-ES" sz="2000" b="0">
                <a:solidFill>
                  <a:srgbClr val="569CD6"/>
                </a:solidFill>
                <a:highlight>
                  <a:srgbClr val="1F1F1F"/>
                </a:highlight>
                <a:latin typeface="Consolas"/>
              </a:rPr>
              <a:t>INSERT INTO</a:t>
            </a:r>
            <a:r>
              <a:rPr lang="es-ES" sz="2000" b="0">
                <a:solidFill>
                  <a:srgbClr val="CCCCCC"/>
                </a:solidFill>
                <a:highlight>
                  <a:srgbClr val="1F1F1F"/>
                </a:highlight>
                <a:latin typeface="Consolas"/>
              </a:rPr>
              <a:t> mascotas</a:t>
            </a:r>
            <a:endParaRPr lang="es-ES" sz="2000"/>
          </a:p>
          <a:p>
            <a:r>
              <a:rPr lang="es-ES" sz="2000" b="0" dirty="0">
                <a:solidFill>
                  <a:srgbClr val="CCCCCC"/>
                </a:solidFill>
                <a:highlight>
                  <a:srgbClr val="1F1F1F"/>
                </a:highlight>
                <a:latin typeface="Consolas"/>
              </a:rPr>
              <a:t>(</a:t>
            </a:r>
            <a:r>
              <a:rPr lang="es-ES" sz="2000" b="0" dirty="0" err="1">
                <a:solidFill>
                  <a:srgbClr val="CCCCCC"/>
                </a:solidFill>
                <a:highlight>
                  <a:srgbClr val="1F1F1F"/>
                </a:highlight>
                <a:latin typeface="Consolas"/>
              </a:rPr>
              <a:t>fecha_nacimiento</a:t>
            </a:r>
            <a:r>
              <a:rPr lang="es-ES" sz="2000" b="0" dirty="0">
                <a:solidFill>
                  <a:srgbClr val="CCCCCC"/>
                </a:solidFill>
                <a:highlight>
                  <a:srgbClr val="1F1F1F"/>
                </a:highlight>
                <a:latin typeface="Consolas"/>
              </a:rPr>
              <a:t>, nombre, tipo, </a:t>
            </a:r>
            <a:r>
              <a:rPr lang="es-ES" sz="2000" b="0" dirty="0" err="1">
                <a:solidFill>
                  <a:srgbClr val="CCCCCC"/>
                </a:solidFill>
                <a:highlight>
                  <a:srgbClr val="1F1F1F"/>
                </a:highlight>
                <a:latin typeface="Consolas"/>
              </a:rPr>
              <a:t>id_duenio</a:t>
            </a:r>
            <a:r>
              <a:rPr lang="es-ES" sz="2000" b="0" dirty="0">
                <a:solidFill>
                  <a:srgbClr val="CCCCCC"/>
                </a:solidFill>
                <a:highlight>
                  <a:srgbClr val="1F1F1F"/>
                </a:highlight>
                <a:latin typeface="Consolas"/>
              </a:rPr>
              <a:t>)</a:t>
            </a:r>
            <a:endParaRPr lang="es-ES" sz="2000"/>
          </a:p>
          <a:p>
            <a:r>
              <a:rPr lang="es-ES" sz="2000" b="0">
                <a:solidFill>
                  <a:srgbClr val="569CD6"/>
                </a:solidFill>
                <a:highlight>
                  <a:srgbClr val="1F1F1F"/>
                </a:highlight>
                <a:latin typeface="Consolas"/>
              </a:rPr>
              <a:t>VALUES</a:t>
            </a:r>
            <a:endParaRPr lang="es-ES" sz="2000"/>
          </a:p>
          <a:p>
            <a:r>
              <a:rPr lang="es-ES" sz="2000" b="0" dirty="0">
                <a:solidFill>
                  <a:srgbClr val="CCCCCC"/>
                </a:solidFill>
                <a:highlight>
                  <a:srgbClr val="1F1F1F"/>
                </a:highlight>
                <a:latin typeface="Consolas"/>
              </a:rPr>
              <a:t>(</a:t>
            </a:r>
            <a:r>
              <a:rPr lang="es-ES" sz="2000" b="0" dirty="0">
                <a:solidFill>
                  <a:srgbClr val="CE9178"/>
                </a:solidFill>
                <a:highlight>
                  <a:srgbClr val="1F1F1F"/>
                </a:highlight>
                <a:latin typeface="Consolas"/>
              </a:rPr>
              <a:t>'2025-01-30'</a:t>
            </a:r>
            <a:r>
              <a:rPr lang="es-ES" sz="2000" b="0" dirty="0">
                <a:solidFill>
                  <a:srgbClr val="CCCCCC"/>
                </a:solidFill>
                <a:highlight>
                  <a:srgbClr val="1F1F1F"/>
                </a:highlight>
                <a:latin typeface="Consolas"/>
              </a:rPr>
              <a:t>, </a:t>
            </a:r>
            <a:r>
              <a:rPr lang="es-ES" sz="2000" b="0" dirty="0">
                <a:solidFill>
                  <a:srgbClr val="CE9178"/>
                </a:solidFill>
                <a:highlight>
                  <a:srgbClr val="1F1F1F"/>
                </a:highlight>
                <a:latin typeface="Consolas"/>
              </a:rPr>
              <a:t>'</a:t>
            </a:r>
            <a:r>
              <a:rPr lang="es-ES" sz="2000" b="0" dirty="0" err="1">
                <a:solidFill>
                  <a:srgbClr val="CE9178"/>
                </a:solidFill>
                <a:highlight>
                  <a:srgbClr val="1F1F1F"/>
                </a:highlight>
                <a:latin typeface="Consolas"/>
              </a:rPr>
              <a:t>Fanshop</a:t>
            </a:r>
            <a:r>
              <a:rPr lang="es-ES" sz="2000" b="0" dirty="0">
                <a:solidFill>
                  <a:srgbClr val="CE9178"/>
                </a:solidFill>
                <a:highlight>
                  <a:srgbClr val="1F1F1F"/>
                </a:highlight>
                <a:latin typeface="Consolas"/>
              </a:rPr>
              <a:t>'</a:t>
            </a:r>
            <a:r>
              <a:rPr lang="es-ES" sz="2000" b="0" dirty="0">
                <a:solidFill>
                  <a:srgbClr val="CCCCCC"/>
                </a:solidFill>
                <a:highlight>
                  <a:srgbClr val="1F1F1F"/>
                </a:highlight>
                <a:latin typeface="Consolas"/>
              </a:rPr>
              <a:t>, </a:t>
            </a:r>
            <a:r>
              <a:rPr lang="es-ES" sz="2000" b="0" dirty="0">
                <a:solidFill>
                  <a:srgbClr val="CE9178"/>
                </a:solidFill>
                <a:highlight>
                  <a:srgbClr val="1F1F1F"/>
                </a:highlight>
                <a:latin typeface="Consolas"/>
              </a:rPr>
              <a:t>'Perro'</a:t>
            </a:r>
            <a:r>
              <a:rPr lang="es-ES" sz="2000" b="0" dirty="0">
                <a:solidFill>
                  <a:srgbClr val="CCCCCC"/>
                </a:solidFill>
                <a:highlight>
                  <a:srgbClr val="1F1F1F"/>
                </a:highlight>
                <a:latin typeface="Consolas"/>
              </a:rPr>
              <a:t>, </a:t>
            </a:r>
            <a:r>
              <a:rPr lang="es-ES" sz="2000" b="0" dirty="0">
                <a:solidFill>
                  <a:srgbClr val="B5CEA8"/>
                </a:solidFill>
                <a:highlight>
                  <a:srgbClr val="1F1F1F"/>
                </a:highlight>
                <a:latin typeface="Consolas"/>
              </a:rPr>
              <a:t>3</a:t>
            </a:r>
            <a:r>
              <a:rPr lang="es-ES" sz="2000" b="0" dirty="0">
                <a:solidFill>
                  <a:srgbClr val="CCCCCC"/>
                </a:solidFill>
                <a:highlight>
                  <a:srgbClr val="1F1F1F"/>
                </a:highlight>
                <a:latin typeface="Consolas"/>
              </a:rPr>
              <a:t>);</a:t>
            </a:r>
            <a:endParaRPr lang="es-ES" sz="2000" dirty="0"/>
          </a:p>
          <a:p>
            <a:r>
              <a:rPr lang="es-ES" sz="2000" b="0">
                <a:solidFill>
                  <a:srgbClr val="569CD6"/>
                </a:solidFill>
                <a:highlight>
                  <a:srgbClr val="1F1F1F"/>
                </a:highlight>
                <a:latin typeface="Consolas"/>
              </a:rPr>
              <a:t>INSERT INTO</a:t>
            </a:r>
            <a:r>
              <a:rPr lang="es-ES" sz="2000" b="0">
                <a:solidFill>
                  <a:srgbClr val="CCCCCC"/>
                </a:solidFill>
                <a:highlight>
                  <a:srgbClr val="1F1F1F"/>
                </a:highlight>
                <a:latin typeface="Consolas"/>
              </a:rPr>
              <a:t> atenciones</a:t>
            </a:r>
            <a:endParaRPr lang="es-ES" sz="2000"/>
          </a:p>
          <a:p>
            <a:r>
              <a:rPr lang="es-ES" sz="2000" b="0" dirty="0">
                <a:solidFill>
                  <a:srgbClr val="CCCCCC"/>
                </a:solidFill>
                <a:highlight>
                  <a:srgbClr val="1F1F1F"/>
                </a:highlight>
                <a:latin typeface="Consolas"/>
              </a:rPr>
              <a:t>(</a:t>
            </a:r>
            <a:r>
              <a:rPr lang="es-ES" sz="2000" b="0" dirty="0" err="1">
                <a:solidFill>
                  <a:srgbClr val="CCCCCC"/>
                </a:solidFill>
                <a:highlight>
                  <a:srgbClr val="1F1F1F"/>
                </a:highlight>
                <a:latin typeface="Consolas"/>
              </a:rPr>
              <a:t>fecha_atencion</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descripcion</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id_mascota</a:t>
            </a:r>
            <a:r>
              <a:rPr lang="es-ES" sz="2000" b="0" dirty="0">
                <a:solidFill>
                  <a:srgbClr val="CCCCCC"/>
                </a:solidFill>
                <a:highlight>
                  <a:srgbClr val="1F1F1F"/>
                </a:highlight>
                <a:latin typeface="Consolas"/>
              </a:rPr>
              <a:t>, </a:t>
            </a:r>
            <a:r>
              <a:rPr lang="es-ES" sz="2000" b="0" dirty="0" err="1">
                <a:solidFill>
                  <a:srgbClr val="CCCCCC"/>
                </a:solidFill>
                <a:highlight>
                  <a:srgbClr val="1F1F1F"/>
                </a:highlight>
                <a:latin typeface="Consolas"/>
              </a:rPr>
              <a:t>id_profesional</a:t>
            </a:r>
            <a:r>
              <a:rPr lang="es-ES" sz="2000" b="0" dirty="0">
                <a:solidFill>
                  <a:srgbClr val="CCCCCC"/>
                </a:solidFill>
                <a:highlight>
                  <a:srgbClr val="1F1F1F"/>
                </a:highlight>
                <a:latin typeface="Consolas"/>
              </a:rPr>
              <a:t>)</a:t>
            </a:r>
            <a:endParaRPr lang="es-ES" sz="2000"/>
          </a:p>
          <a:p>
            <a:r>
              <a:rPr lang="es-ES" sz="2000" b="0">
                <a:solidFill>
                  <a:srgbClr val="569CD6"/>
                </a:solidFill>
                <a:highlight>
                  <a:srgbClr val="1F1F1F"/>
                </a:highlight>
                <a:latin typeface="Consolas"/>
              </a:rPr>
              <a:t>VALUES</a:t>
            </a:r>
            <a:endParaRPr lang="es-ES" sz="2000"/>
          </a:p>
          <a:p>
            <a:r>
              <a:rPr lang="es-ES" sz="2000" b="0">
                <a:solidFill>
                  <a:srgbClr val="CCCCCC"/>
                </a:solidFill>
                <a:highlight>
                  <a:srgbClr val="1F1F1F"/>
                </a:highlight>
                <a:latin typeface="Consolas"/>
              </a:rPr>
              <a:t>(</a:t>
            </a:r>
            <a:r>
              <a:rPr lang="es-ES" sz="2000" b="0">
                <a:solidFill>
                  <a:srgbClr val="CE9178"/>
                </a:solidFill>
                <a:highlight>
                  <a:srgbClr val="1F1F1F"/>
                </a:highlight>
                <a:latin typeface="Consolas"/>
              </a:rPr>
              <a:t>'2026-03-31'</a:t>
            </a:r>
            <a:r>
              <a:rPr lang="es-ES" sz="2000" b="0">
                <a:solidFill>
                  <a:srgbClr val="CCCCCC"/>
                </a:solidFill>
                <a:highlight>
                  <a:srgbClr val="1F1F1F"/>
                </a:highlight>
                <a:latin typeface="Consolas"/>
              </a:rPr>
              <a:t>, </a:t>
            </a:r>
            <a:r>
              <a:rPr lang="es-ES" sz="2000" b="0">
                <a:solidFill>
                  <a:srgbClr val="CE9178"/>
                </a:solidFill>
                <a:highlight>
                  <a:srgbClr val="1F1F1F"/>
                </a:highlight>
                <a:latin typeface="Consolas"/>
              </a:rPr>
              <a:t>'Revisión general'</a:t>
            </a:r>
            <a:r>
              <a:rPr lang="es-ES" sz="2000" b="0">
                <a:solidFill>
                  <a:srgbClr val="CCCCCC"/>
                </a:solidFill>
                <a:highlight>
                  <a:srgbClr val="1F1F1F"/>
                </a:highlight>
                <a:latin typeface="Consolas"/>
              </a:rPr>
              <a:t>, </a:t>
            </a:r>
            <a:r>
              <a:rPr lang="es-ES" sz="2000" b="0">
                <a:solidFill>
                  <a:srgbClr val="B5CEA8"/>
                </a:solidFill>
                <a:highlight>
                  <a:srgbClr val="1F1F1F"/>
                </a:highlight>
                <a:latin typeface="Consolas"/>
              </a:rPr>
              <a:t>4</a:t>
            </a:r>
            <a:r>
              <a:rPr lang="es-ES" sz="2000" b="0">
                <a:solidFill>
                  <a:srgbClr val="CCCCCC"/>
                </a:solidFill>
                <a:highlight>
                  <a:srgbClr val="1F1F1F"/>
                </a:highlight>
                <a:latin typeface="Consolas"/>
              </a:rPr>
              <a:t>, </a:t>
            </a:r>
            <a:r>
              <a:rPr lang="es-ES" sz="2000" b="0">
                <a:solidFill>
                  <a:srgbClr val="B5CEA8"/>
                </a:solidFill>
                <a:highlight>
                  <a:srgbClr val="1F1F1F"/>
                </a:highlight>
                <a:latin typeface="Consolas"/>
              </a:rPr>
              <a:t>1</a:t>
            </a:r>
            <a:r>
              <a:rPr lang="es-ES" sz="2000" b="0">
                <a:solidFill>
                  <a:srgbClr val="CCCCCC"/>
                </a:solidFill>
                <a:highlight>
                  <a:srgbClr val="1F1F1F"/>
                </a:highlight>
                <a:latin typeface="Consolas"/>
              </a:rPr>
              <a:t>);</a:t>
            </a:r>
            <a:endParaRPr lang="es-ES" sz="2000"/>
          </a:p>
          <a:p>
            <a:r>
              <a:rPr lang="es-ES" sz="2000" b="0">
                <a:solidFill>
                  <a:srgbClr val="569CD6"/>
                </a:solidFill>
                <a:highlight>
                  <a:srgbClr val="1F1F1F"/>
                </a:highlight>
                <a:latin typeface="Consolas"/>
              </a:rPr>
              <a:t>COMMIT</a:t>
            </a:r>
            <a:r>
              <a:rPr lang="es-ES" sz="2000" b="0">
                <a:solidFill>
                  <a:srgbClr val="CCCCCC"/>
                </a:solidFill>
                <a:highlight>
                  <a:srgbClr val="1F1F1F"/>
                </a:highlight>
                <a:latin typeface="Consolas"/>
              </a:rPr>
              <a:t>;</a:t>
            </a:r>
            <a:endParaRPr lang="es-ES" sz="2000"/>
          </a:p>
          <a:p>
            <a:endParaRPr lang="es-ES" sz="2400" b="0" dirty="0">
              <a:solidFill>
                <a:srgbClr val="CCCCCC"/>
              </a:solidFill>
              <a:highlight>
                <a:srgbClr val="1F1F1F"/>
              </a:highlight>
              <a:latin typeface="Consolas"/>
            </a:endParaRPr>
          </a:p>
          <a:p>
            <a:endParaRPr lang="es-ES" sz="2000" b="0" dirty="0">
              <a:solidFill>
                <a:srgbClr val="569CD6"/>
              </a:solidFill>
              <a:highlight>
                <a:srgbClr val="1F1F1F"/>
              </a:highlight>
              <a:latin typeface="Consolas"/>
            </a:endParaRPr>
          </a:p>
          <a:p>
            <a:endParaRPr lang="es-ES" sz="2800" b="0" dirty="0">
              <a:solidFill>
                <a:srgbClr val="CCCCCC"/>
              </a:solidFill>
              <a:highlight>
                <a:srgbClr val="1F1F1F"/>
              </a:highlight>
              <a:latin typeface="Consolas"/>
            </a:endParaRPr>
          </a:p>
          <a:p>
            <a:endParaRPr lang="es-ES" sz="2800" dirty="0">
              <a:solidFill>
                <a:schemeClr val="bg2"/>
              </a:solidFill>
            </a:endParaRPr>
          </a:p>
        </p:txBody>
      </p:sp>
      <p:pic>
        <p:nvPicPr>
          <p:cNvPr id="3" name="Imagen 2" descr="Tabla&#10;&#10;El contenido generado por IA puede ser incorrecto.">
            <a:extLst>
              <a:ext uri="{FF2B5EF4-FFF2-40B4-BE49-F238E27FC236}">
                <a16:creationId xmlns:a16="http://schemas.microsoft.com/office/drawing/2014/main" id="{D457DE01-178B-0495-1A8F-DFF6B431FEF5}"/>
              </a:ext>
            </a:extLst>
          </p:cNvPr>
          <p:cNvPicPr>
            <a:picLocks noChangeAspect="1"/>
          </p:cNvPicPr>
          <p:nvPr/>
        </p:nvPicPr>
        <p:blipFill>
          <a:blip r:embed="rId3"/>
          <a:stretch>
            <a:fillRect/>
          </a:stretch>
        </p:blipFill>
        <p:spPr>
          <a:xfrm>
            <a:off x="5664859" y="1511420"/>
            <a:ext cx="6153150" cy="1333500"/>
          </a:xfrm>
          <a:prstGeom prst="rect">
            <a:avLst/>
          </a:prstGeom>
        </p:spPr>
      </p:pic>
      <p:pic>
        <p:nvPicPr>
          <p:cNvPr id="4" name="Imagen 3" descr="Interfaz de usuario gráfica, Texto, Aplicación, Chat o mensaje de texto&#10;&#10;El contenido generado por IA puede ser incorrecto.">
            <a:extLst>
              <a:ext uri="{FF2B5EF4-FFF2-40B4-BE49-F238E27FC236}">
                <a16:creationId xmlns:a16="http://schemas.microsoft.com/office/drawing/2014/main" id="{3865FEB6-F7A9-0896-CF10-8D984E65A57C}"/>
              </a:ext>
            </a:extLst>
          </p:cNvPr>
          <p:cNvPicPr>
            <a:picLocks noChangeAspect="1"/>
          </p:cNvPicPr>
          <p:nvPr/>
        </p:nvPicPr>
        <p:blipFill>
          <a:blip r:embed="rId4"/>
          <a:stretch>
            <a:fillRect/>
          </a:stretch>
        </p:blipFill>
        <p:spPr>
          <a:xfrm>
            <a:off x="5946747" y="2890927"/>
            <a:ext cx="5876925" cy="1104900"/>
          </a:xfrm>
          <a:prstGeom prst="rect">
            <a:avLst/>
          </a:prstGeom>
        </p:spPr>
      </p:pic>
      <p:sp>
        <p:nvSpPr>
          <p:cNvPr id="9" name="CuadroTexto 8">
            <a:extLst>
              <a:ext uri="{FF2B5EF4-FFF2-40B4-BE49-F238E27FC236}">
                <a16:creationId xmlns:a16="http://schemas.microsoft.com/office/drawing/2014/main" id="{6680AF81-3BCF-8E68-340E-EE2A9EA60716}"/>
              </a:ext>
            </a:extLst>
          </p:cNvPr>
          <p:cNvSpPr txBox="1"/>
          <p:nvPr/>
        </p:nvSpPr>
        <p:spPr>
          <a:xfrm>
            <a:off x="141811" y="1510601"/>
            <a:ext cx="53062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chemeClr val="bg2"/>
                </a:solidFill>
              </a:rPr>
              <a:t>Finalizada la transacción con </a:t>
            </a:r>
            <a:r>
              <a:rPr lang="es-ES" sz="2400">
                <a:solidFill>
                  <a:schemeClr val="bg2"/>
                </a:solidFill>
              </a:rPr>
              <a:t>éxito</a:t>
            </a:r>
            <a:r>
              <a:rPr lang="es-ES" sz="2400" dirty="0">
                <a:solidFill>
                  <a:schemeClr val="bg2"/>
                </a:solidFill>
              </a:rPr>
              <a:t>, se puede apreciar en las consultas que la última mascota fue registrada y asignada a una cita con éxito.</a:t>
            </a:r>
          </a:p>
        </p:txBody>
      </p:sp>
    </p:spTree>
    <p:extLst>
      <p:ext uri="{BB962C8B-B14F-4D97-AF65-F5344CB8AC3E}">
        <p14:creationId xmlns:p14="http://schemas.microsoft.com/office/powerpoint/2010/main" val="62440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AA0B4-11F8-A316-FA01-C33519B57ABD}"/>
            </a:ext>
          </a:extLst>
        </p:cNvPr>
        <p:cNvGrpSpPr/>
        <p:nvPr/>
      </p:nvGrpSpPr>
      <p:grpSpPr>
        <a:xfrm>
          <a:off x="0" y="0"/>
          <a:ext cx="0" cy="0"/>
          <a:chOff x="0" y="0"/>
          <a:chExt cx="0" cy="0"/>
        </a:xfrm>
      </p:grpSpPr>
      <p:pic>
        <p:nvPicPr>
          <p:cNvPr id="5" name="Marcador de contenido 4" descr="Patrón de fondo&#10;&#10;El contenido generado por IA puede ser incorrecto.">
            <a:extLst>
              <a:ext uri="{FF2B5EF4-FFF2-40B4-BE49-F238E27FC236}">
                <a16:creationId xmlns:a16="http://schemas.microsoft.com/office/drawing/2014/main" id="{1615A28A-BAAB-7C32-5062-37CA918BE477}"/>
              </a:ext>
            </a:extLst>
          </p:cNvPr>
          <p:cNvPicPr>
            <a:picLocks noGrp="1" noChangeAspect="1"/>
          </p:cNvPicPr>
          <p:nvPr>
            <p:ph idx="1"/>
          </p:nvPr>
        </p:nvPicPr>
        <p:blipFill>
          <a:blip r:embed="rId2"/>
          <a:stretch>
            <a:fillRect/>
          </a:stretch>
        </p:blipFill>
        <p:spPr>
          <a:xfrm>
            <a:off x="-194714" y="4627"/>
            <a:ext cx="12383320" cy="6836695"/>
          </a:xfrm>
          <a:prstGeom prst="rect">
            <a:avLst/>
          </a:prstGeom>
        </p:spPr>
      </p:pic>
      <p:sp>
        <p:nvSpPr>
          <p:cNvPr id="4" name="Título 1">
            <a:extLst>
              <a:ext uri="{FF2B5EF4-FFF2-40B4-BE49-F238E27FC236}">
                <a16:creationId xmlns:a16="http://schemas.microsoft.com/office/drawing/2014/main" id="{060BFC76-74F1-8AE8-1F8C-AA24AFF13A2A}"/>
              </a:ext>
            </a:extLst>
          </p:cNvPr>
          <p:cNvSpPr>
            <a:spLocks noGrp="1"/>
          </p:cNvSpPr>
          <p:nvPr>
            <p:ph type="title"/>
          </p:nvPr>
        </p:nvSpPr>
        <p:spPr>
          <a:xfrm>
            <a:off x="612648" y="548640"/>
            <a:ext cx="10653578" cy="744070"/>
          </a:xfrm>
        </p:spPr>
        <p:txBody>
          <a:bodyPr/>
          <a:lstStyle/>
          <a:p>
            <a:r>
              <a:rPr lang="es-ES">
                <a:solidFill>
                  <a:schemeClr val="bg2"/>
                </a:solidFill>
              </a:rPr>
              <a:t>Conclusión</a:t>
            </a:r>
            <a:endParaRPr lang="es-ES" dirty="0">
              <a:solidFill>
                <a:schemeClr val="bg2"/>
              </a:solidFill>
            </a:endParaRPr>
          </a:p>
        </p:txBody>
      </p:sp>
      <p:sp>
        <p:nvSpPr>
          <p:cNvPr id="9" name="Título 1">
            <a:extLst>
              <a:ext uri="{FF2B5EF4-FFF2-40B4-BE49-F238E27FC236}">
                <a16:creationId xmlns:a16="http://schemas.microsoft.com/office/drawing/2014/main" id="{52E7E7F0-2C30-702C-FF2E-337A5BE673BE}"/>
              </a:ext>
            </a:extLst>
          </p:cNvPr>
          <p:cNvSpPr txBox="1">
            <a:spLocks/>
          </p:cNvSpPr>
          <p:nvPr/>
        </p:nvSpPr>
        <p:spPr>
          <a:xfrm>
            <a:off x="606897" y="1304889"/>
            <a:ext cx="10797351" cy="511478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s-ES" sz="2800" b="0" dirty="0">
                <a:solidFill>
                  <a:schemeClr val="bg2"/>
                </a:solidFill>
              </a:rPr>
              <a:t>Para esta solución, se aplicó la creación de la base de datos y sus tablas, la inserción de sus datos, consultas de interés general, unión de tablas, deleciones, actualizaciones y </a:t>
            </a:r>
            <a:r>
              <a:rPr lang="es-ES" sz="2800" b="0">
                <a:solidFill>
                  <a:schemeClr val="bg2"/>
                </a:solidFill>
              </a:rPr>
              <a:t>transacciones con guardado de datos al haber éxito.</a:t>
            </a:r>
            <a:endParaRPr lang="es-ES">
              <a:solidFill>
                <a:schemeClr val="bg2"/>
              </a:solidFill>
            </a:endParaRPr>
          </a:p>
          <a:p>
            <a:endParaRPr lang="es-ES" sz="2800" b="0" dirty="0">
              <a:solidFill>
                <a:schemeClr val="bg2"/>
              </a:solidFill>
            </a:endParaRPr>
          </a:p>
          <a:p>
            <a:r>
              <a:rPr lang="es-ES" sz="2800" b="0" dirty="0">
                <a:solidFill>
                  <a:schemeClr val="bg2"/>
                </a:solidFill>
              </a:rPr>
              <a:t>La base de datos entregada en este ejercicio es sólida para los requerimientos básicos del negocio, pero no por ello podría tener varias modificaciones a medida que se vaya escalando la necesidad de nuevos activos dentro de la clínica veterinaria, como ingresos de medicamentos y su stock, o un </a:t>
            </a:r>
            <a:r>
              <a:rPr lang="es-ES" sz="2800" b="0" dirty="0" err="1">
                <a:solidFill>
                  <a:schemeClr val="bg2"/>
                </a:solidFill>
              </a:rPr>
              <a:t>soft-delete</a:t>
            </a:r>
            <a:r>
              <a:rPr lang="es-ES" sz="2800" b="0" dirty="0">
                <a:solidFill>
                  <a:schemeClr val="bg2"/>
                </a:solidFill>
              </a:rPr>
              <a:t> para conservar los datos de consulta incluso si un profesional ya no trabaja en la clínica.</a:t>
            </a:r>
            <a:endParaRPr lang="es-ES" dirty="0">
              <a:solidFill>
                <a:schemeClr val="bg2"/>
              </a:solidFill>
            </a:endParaRPr>
          </a:p>
          <a:p>
            <a:endParaRPr lang="es-ES" sz="2800" b="0" dirty="0">
              <a:solidFill>
                <a:schemeClr val="bg2"/>
              </a:solidFill>
            </a:endParaRPr>
          </a:p>
          <a:p>
            <a:endParaRPr lang="es-ES" sz="2800" b="0" dirty="0">
              <a:solidFill>
                <a:schemeClr val="bg2"/>
              </a:solidFill>
            </a:endParaRPr>
          </a:p>
          <a:p>
            <a:endParaRPr lang="es-ES" sz="2800" b="0" dirty="0">
              <a:solidFill>
                <a:schemeClr val="bg2"/>
              </a:solidFill>
            </a:endParaRPr>
          </a:p>
          <a:p>
            <a:endParaRPr lang="es-ES" sz="2800" b="0" dirty="0">
              <a:solidFill>
                <a:schemeClr val="bg2"/>
              </a:solidFill>
            </a:endParaRPr>
          </a:p>
          <a:p>
            <a:endParaRPr lang="es-ES" sz="2800" b="0" dirty="0">
              <a:solidFill>
                <a:schemeClr val="bg2"/>
              </a:solidFill>
            </a:endParaRPr>
          </a:p>
          <a:p>
            <a:endParaRPr lang="es-ES" sz="2800" b="0" dirty="0">
              <a:solidFill>
                <a:schemeClr val="bg2"/>
              </a:solidFill>
            </a:endParaRPr>
          </a:p>
        </p:txBody>
      </p:sp>
    </p:spTree>
    <p:extLst>
      <p:ext uri="{BB962C8B-B14F-4D97-AF65-F5344CB8AC3E}">
        <p14:creationId xmlns:p14="http://schemas.microsoft.com/office/powerpoint/2010/main" val="54486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421CEE-57C0-59A1-62F0-F6AA42177FAE}"/>
            </a:ext>
          </a:extLst>
        </p:cNvPr>
        <p:cNvGrpSpPr/>
        <p:nvPr/>
      </p:nvGrpSpPr>
      <p:grpSpPr>
        <a:xfrm>
          <a:off x="0" y="0"/>
          <a:ext cx="0" cy="0"/>
          <a:chOff x="0" y="0"/>
          <a:chExt cx="0" cy="0"/>
        </a:xfrm>
      </p:grpSpPr>
      <p:pic>
        <p:nvPicPr>
          <p:cNvPr id="4" name="Imagen 3" descr="Patrón de fondo">
            <a:extLst>
              <a:ext uri="{FF2B5EF4-FFF2-40B4-BE49-F238E27FC236}">
                <a16:creationId xmlns:a16="http://schemas.microsoft.com/office/drawing/2014/main" id="{4ED739C6-5889-FA4A-9E75-B5FCAF26691A}"/>
              </a:ext>
            </a:extLst>
          </p:cNvPr>
          <p:cNvPicPr>
            <a:picLocks noChangeAspect="1"/>
          </p:cNvPicPr>
          <p:nvPr/>
        </p:nvPicPr>
        <p:blipFill>
          <a:blip r:embed="rId2"/>
          <a:stretch>
            <a:fillRect/>
          </a:stretch>
        </p:blipFill>
        <p:spPr>
          <a:xfrm>
            <a:off x="-2874" y="4764"/>
            <a:ext cx="12197750" cy="6848474"/>
          </a:xfrm>
          <a:prstGeom prst="rect">
            <a:avLst/>
          </a:prstGeom>
        </p:spPr>
      </p:pic>
      <p:sp>
        <p:nvSpPr>
          <p:cNvPr id="7" name="Rectangle 10">
            <a:extLst>
              <a:ext uri="{FF2B5EF4-FFF2-40B4-BE49-F238E27FC236}">
                <a16:creationId xmlns:a16="http://schemas.microsoft.com/office/drawing/2014/main" id="{2FE90831-8FDE-FDCB-C1BF-40CC1ED449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Título 7">
            <a:extLst>
              <a:ext uri="{FF2B5EF4-FFF2-40B4-BE49-F238E27FC236}">
                <a16:creationId xmlns:a16="http://schemas.microsoft.com/office/drawing/2014/main" id="{C50AD214-48E9-14AF-E2EC-12F5977BAB35}"/>
              </a:ext>
            </a:extLst>
          </p:cNvPr>
          <p:cNvSpPr>
            <a:spLocks noGrp="1"/>
          </p:cNvSpPr>
          <p:nvPr>
            <p:ph type="ctrTitle"/>
          </p:nvPr>
        </p:nvSpPr>
        <p:spPr>
          <a:xfrm>
            <a:off x="1899357" y="5248665"/>
            <a:ext cx="8134494" cy="780852"/>
          </a:xfrm>
        </p:spPr>
        <p:txBody>
          <a:bodyPr>
            <a:noAutofit/>
          </a:bodyPr>
          <a:lstStyle/>
          <a:p>
            <a:r>
              <a:rPr lang="es-ES" sz="4800"/>
              <a:t>Gracias por su atención</a:t>
            </a:r>
          </a:p>
        </p:txBody>
      </p:sp>
      <p:pic>
        <p:nvPicPr>
          <p:cNvPr id="12" name="Imagen 11">
            <a:extLst>
              <a:ext uri="{FF2B5EF4-FFF2-40B4-BE49-F238E27FC236}">
                <a16:creationId xmlns:a16="http://schemas.microsoft.com/office/drawing/2014/main" id="{DBA63C20-1A07-E707-BCCA-EF575EFFD054}"/>
              </a:ext>
            </a:extLst>
          </p:cNvPr>
          <p:cNvPicPr>
            <a:picLocks noChangeAspect="1"/>
          </p:cNvPicPr>
          <p:nvPr/>
        </p:nvPicPr>
        <p:blipFill>
          <a:blip r:embed="rId3"/>
          <a:stretch>
            <a:fillRect/>
          </a:stretch>
        </p:blipFill>
        <p:spPr>
          <a:xfrm>
            <a:off x="4121989" y="1167440"/>
            <a:ext cx="3689229" cy="3861758"/>
          </a:xfrm>
          <a:prstGeom prst="rect">
            <a:avLst/>
          </a:prstGeom>
        </p:spPr>
      </p:pic>
    </p:spTree>
    <p:extLst>
      <p:ext uri="{BB962C8B-B14F-4D97-AF65-F5344CB8AC3E}">
        <p14:creationId xmlns:p14="http://schemas.microsoft.com/office/powerpoint/2010/main" val="409281531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13</Slides>
  <Notes>0</Notes>
  <HiddenSlides>0</HiddenSlides>
  <MMClips>0</MMClip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VanillaVTI</vt:lpstr>
      <vt:lpstr>Evaluación Modular M5 </vt:lpstr>
      <vt:lpstr>Introducción</vt:lpstr>
      <vt:lpstr>Modelo Entidad-Relación</vt:lpstr>
      <vt:lpstr>Datos:</vt:lpstr>
      <vt:lpstr>Datos:</vt:lpstr>
      <vt:lpstr>Consultas</vt:lpstr>
      <vt:lpstr>Presentación de PowerPoint</vt:lpstr>
      <vt:lpstr>Presentación de PowerPoint</vt:lpstr>
      <vt:lpstr>Presentación de PowerPoint</vt:lpstr>
      <vt:lpstr>Presentación de PowerPoint</vt:lpstr>
      <vt:lpstr>Presentación de PowerPoint</vt:lpstr>
      <vt:lpstr>Conclusión</vt:lpstr>
      <vt:lpstr>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491</cp:revision>
  <dcterms:created xsi:type="dcterms:W3CDTF">2026-03-30T02:48:34Z</dcterms:created>
  <dcterms:modified xsi:type="dcterms:W3CDTF">2026-03-30T08:46:35Z</dcterms:modified>
</cp:coreProperties>
</file>